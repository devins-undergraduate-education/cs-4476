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0"/>
    <p:restoredTop sz="94718"/>
  </p:normalViewPr>
  <p:slideViewPr>
    <p:cSldViewPr snapToGrid="0" showGuides="1">
      <p:cViewPr varScale="1">
        <p:scale>
          <a:sx n="99" d="100"/>
          <a:sy n="99" d="100"/>
        </p:scale>
        <p:origin x="184" y="10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" name="Google Shape;16;p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dirty="0"/>
              <a:t>CS </a:t>
            </a:r>
            <a:r>
              <a:rPr lang="en-US" altLang="en-GB" dirty="0"/>
              <a:t>4</a:t>
            </a:r>
            <a:r>
              <a:rPr lang="en-GB" dirty="0"/>
              <a:t>476 </a:t>
            </a:r>
            <a:r>
              <a:rPr lang="en-US" altLang="en-GB" dirty="0"/>
              <a:t>Fall</a:t>
            </a:r>
            <a:r>
              <a:rPr lang="en-GB" dirty="0"/>
              <a:t> 202</a:t>
            </a:r>
            <a:r>
              <a:rPr lang="en-US" altLang="en-GB" dirty="0"/>
              <a:t>5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dirty="0"/>
              <a:t>PS1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Name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GT Email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GT ID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body" idx="2"/>
          </p:nvPr>
        </p:nvSpPr>
        <p:spPr>
          <a:xfrm>
            <a:off x="4809975" y="80225"/>
            <a:ext cx="3999900" cy="49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b="1" dirty="0"/>
              <a:t>1.2 </a:t>
            </a:r>
            <a:r>
              <a:rPr lang="en-GB" sz="1100" dirty="0">
                <a:solidFill>
                  <a:schemeClr val="dk1"/>
                </a:solidFill>
              </a:rPr>
              <a:t>Let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y </a:t>
            </a:r>
            <a:r>
              <a:rPr lang="en-GB" sz="1100" dirty="0">
                <a:solidFill>
                  <a:schemeClr val="dk1"/>
                </a:solidFill>
              </a:rPr>
              <a:t>be the vector: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y = </a:t>
            </a:r>
            <a:r>
              <a:rPr lang="en-GB" sz="11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np.array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([11, 22, 33, 44, 55, 66])</a:t>
            </a:r>
            <a:r>
              <a:rPr lang="en-GB" sz="1100" dirty="0">
                <a:solidFill>
                  <a:schemeClr val="dk1"/>
                </a:solidFill>
              </a:rPr>
              <a:t>. Use the reshape command to form a new matrix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z </a:t>
            </a:r>
            <a:r>
              <a:rPr lang="en-GB" sz="1100" dirty="0">
                <a:solidFill>
                  <a:schemeClr val="dk1"/>
                </a:solidFill>
              </a:rPr>
              <a:t>that looks like this: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[[11,22],[33,44],[55,66]]</a:t>
            </a:r>
            <a:endParaRPr sz="11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def prob_1_2(y):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Args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: y: </a:t>
            </a: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numpy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 array. 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Returns: z: </a:t>
            </a: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numpy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 array of shape (new_size,2).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START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END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 z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89300" y="80225"/>
            <a:ext cx="3999900" cy="49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b="1" dirty="0"/>
              <a:t>1.1 </a:t>
            </a:r>
            <a:r>
              <a:rPr lang="en-GB" sz="1100" dirty="0">
                <a:solidFill>
                  <a:schemeClr val="dk1"/>
                </a:solidFill>
              </a:rPr>
              <a:t>Use </a:t>
            </a:r>
            <a:r>
              <a:rPr lang="en-GB" sz="11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numpy.random.rand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 </a:t>
            </a:r>
            <a:r>
              <a:rPr lang="en-GB" sz="1100" dirty="0">
                <a:solidFill>
                  <a:schemeClr val="dk1"/>
                </a:solidFill>
              </a:rPr>
              <a:t>to return the roll of a six-sided die over N trials.</a:t>
            </a:r>
            <a:endParaRPr sz="11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def prob_1_1(N):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Args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: N: the number of trials. 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Returns: </a:t>
            </a: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arr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: array of rolls.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START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END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 </a:t>
            </a: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arr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22900" y="57800"/>
            <a:ext cx="3772582" cy="50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GB" b="1" dirty="0"/>
              <a:t>1.3 </a:t>
            </a:r>
            <a:r>
              <a:rPr lang="en-US" sz="1100" dirty="0">
                <a:solidFill>
                  <a:schemeClr val="dk1"/>
                </a:solidFill>
              </a:rPr>
              <a:t>Use the </a:t>
            </a:r>
            <a:r>
              <a:rPr lang="en-GB" sz="11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numpy.max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function to set x to the maximum value that occurs in z (above), and use the</a:t>
            </a:r>
            <a:br>
              <a:rPr lang="en-US" sz="1100" dirty="0">
                <a:solidFill>
                  <a:schemeClr val="dk1"/>
                </a:solidFill>
              </a:rPr>
            </a:br>
            <a:r>
              <a:rPr lang="en-GB" sz="11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numpy.where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function to set r to the row number (0-indexed) it occurs in and c to the column number</a:t>
            </a:r>
            <a:br>
              <a:rPr lang="en-US" sz="1100" dirty="0">
                <a:solidFill>
                  <a:schemeClr val="dk1"/>
                </a:solidFill>
              </a:rPr>
            </a:br>
            <a:r>
              <a:rPr lang="en-US" sz="1100" dirty="0">
                <a:solidFill>
                  <a:schemeClr val="dk1"/>
                </a:solidFill>
              </a:rPr>
              <a:t>(0-indexed) it occurs in. You may assume the maximum value is unique.</a:t>
            </a:r>
            <a:endParaRPr lang="en-US"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def prob_1_3(z):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Args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: z: </a:t>
            </a: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numpy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 array of shape (3,2).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Returns: x: max value in z.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r: row index of x.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c: column index of x.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START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END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 (x, r, c)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4821200" y="57800"/>
            <a:ext cx="3999900" cy="50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b="1" dirty="0"/>
              <a:t>1.4 </a:t>
            </a:r>
            <a:r>
              <a:rPr lang="en-GB" sz="1100" dirty="0">
                <a:solidFill>
                  <a:schemeClr val="dk1"/>
                </a:solidFill>
              </a:rPr>
              <a:t>Let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v </a:t>
            </a:r>
            <a:r>
              <a:rPr lang="en-GB" sz="1100" dirty="0">
                <a:solidFill>
                  <a:schemeClr val="dk1"/>
                </a:solidFill>
              </a:rPr>
              <a:t>be the vector: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v = </a:t>
            </a:r>
            <a:r>
              <a:rPr lang="en-GB" sz="11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np.array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([1, 4, 7, 1, 2, 6, 8, 1, 9])</a:t>
            </a:r>
            <a:r>
              <a:rPr lang="en-GB" sz="1100" dirty="0">
                <a:solidFill>
                  <a:schemeClr val="dk1"/>
                </a:solidFill>
              </a:rPr>
              <a:t>. Set a new variable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x </a:t>
            </a:r>
            <a:r>
              <a:rPr lang="en-GB" sz="1100" dirty="0">
                <a:solidFill>
                  <a:schemeClr val="dk1"/>
                </a:solidFill>
              </a:rPr>
              <a:t>to be the number of 1’s in the vector </a:t>
            </a:r>
            <a:r>
              <a:rPr lang="en-GB" sz="11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v</a:t>
            </a:r>
            <a:r>
              <a:rPr lang="en-GB" sz="1100" dirty="0">
                <a:solidFill>
                  <a:schemeClr val="dk1"/>
                </a:solidFill>
              </a:rPr>
              <a:t>.</a:t>
            </a:r>
            <a:endParaRPr sz="11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def prob_1_4(v):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Args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: v: </a:t>
            </a:r>
            <a:r>
              <a:rPr lang="en-GB" sz="1200" dirty="0" err="1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numpy</a:t>
            </a: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 array. 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Returns: x: number of 1’s in v.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"""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START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### END CODE HERE ###</a:t>
            </a: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200" dirty="0">
              <a:solidFill>
                <a:schemeClr val="dk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200" dirty="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return x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438800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GB" b="1"/>
              <a:t>2.1</a:t>
            </a:r>
            <a:r>
              <a:rPr lang="en-GB" sz="1200">
                <a:solidFill>
                  <a:schemeClr val="dk1"/>
                </a:solidFill>
              </a:rPr>
              <a:t> Plot all the intensities in </a:t>
            </a:r>
            <a:r>
              <a:rPr lang="en-GB" sz="120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</a:t>
            </a:r>
            <a:r>
              <a:rPr lang="en-GB" sz="1200">
                <a:solidFill>
                  <a:schemeClr val="dk1"/>
                </a:solidFill>
              </a:rPr>
              <a:t>, sorted in decreasing value. Provide the plot in your answer sheet. (Note, in this case we don’t care about the 2D structure of </a:t>
            </a:r>
            <a:r>
              <a:rPr lang="en-GB" sz="1200">
                <a:solidFill>
                  <a:schemeClr val="dk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</a:t>
            </a:r>
            <a:r>
              <a:rPr lang="en-GB" sz="1200">
                <a:solidFill>
                  <a:schemeClr val="dk1"/>
                </a:solidFill>
              </a:rPr>
              <a:t>, we only want to sort the list of all intensities.)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/>
              <a:t>&lt;Insert plot here&gt;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2"/>
          </p:nvPr>
        </p:nvSpPr>
        <p:spPr>
          <a:xfrm>
            <a:off x="4832400" y="438775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2.2</a:t>
            </a:r>
            <a:r>
              <a:rPr lang="en-GB" sz="1200">
                <a:solidFill>
                  <a:schemeClr val="dk1"/>
                </a:solidFill>
              </a:rPr>
              <a:t> Display a histogram of A’s intensities with 20 bins. Again, we do not care about the 2D structure. Provide the histogram in your answer sheet.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/>
              <a:t>&lt;Insert plot here&gt;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832400" y="438775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3.2.</a:t>
            </a:r>
            <a:r>
              <a:rPr lang="en-GB" sz="1200">
                <a:solidFill>
                  <a:schemeClr val="dk1"/>
                </a:solidFill>
              </a:rPr>
              <a:t> Display the grayscale image.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/>
              <a:t>&lt;Insert plot here&gt;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b="1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438800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GB" b="1"/>
              <a:t>3.1</a:t>
            </a:r>
            <a:r>
              <a:rPr lang="en-GB" sz="1200">
                <a:solidFill>
                  <a:schemeClr val="dk1"/>
                </a:solidFill>
              </a:rPr>
              <a:t> Display the color channel swapped image.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/>
              <a:t>&lt;Insert plot here&gt;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438800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GB" b="1" dirty="0"/>
              <a:t>3.3</a:t>
            </a:r>
            <a:r>
              <a:rPr lang="en-GB" sz="1200" dirty="0">
                <a:solidFill>
                  <a:schemeClr val="dk1"/>
                </a:solidFill>
              </a:rPr>
              <a:t> Display the negative image.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 dirty="0"/>
              <a:t>&lt;Insert plot here&gt;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2"/>
          </p:nvPr>
        </p:nvSpPr>
        <p:spPr>
          <a:xfrm>
            <a:off x="4832400" y="438775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3.4</a:t>
            </a:r>
            <a:r>
              <a:rPr lang="en-GB" sz="1200">
                <a:solidFill>
                  <a:schemeClr val="dk1"/>
                </a:solidFill>
              </a:rPr>
              <a:t> Display the mirror image.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/>
              <a:t>&lt;Insert plot here&gt;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438800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GB" b="1"/>
              <a:t>3.5</a:t>
            </a:r>
            <a:r>
              <a:rPr lang="en-GB" sz="1200">
                <a:solidFill>
                  <a:schemeClr val="dk1"/>
                </a:solidFill>
              </a:rPr>
              <a:t> Display the averaged image.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/>
              <a:t>&lt;Insert plot here&gt;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2"/>
          </p:nvPr>
        </p:nvSpPr>
        <p:spPr>
          <a:xfrm>
            <a:off x="4832400" y="438775"/>
            <a:ext cx="3999900" cy="4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3.6.</a:t>
            </a:r>
            <a:r>
              <a:rPr lang="en-GB" sz="1200">
                <a:solidFill>
                  <a:schemeClr val="dk1"/>
                </a:solidFill>
              </a:rPr>
              <a:t> Display the clipped image.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r>
              <a:rPr lang="en-GB"/>
              <a:t>&lt;Insert plot here&gt;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400" b="1">
                <a:solidFill>
                  <a:schemeClr val="dk2"/>
                </a:solidFill>
              </a:rPr>
              <a:t>4.1.</a:t>
            </a:r>
            <a:r>
              <a:rPr lang="en-GB" sz="1200"/>
              <a:t> Load the images and plot their R, G, B channels separately as grayscale images using </a:t>
            </a:r>
            <a:r>
              <a:rPr lang="en-GB" sz="1200"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plt.imshow()</a:t>
            </a:r>
            <a:endParaRPr sz="1200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&lt;Insert plots here&gt;</a:t>
            </a: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400" b="1" dirty="0">
                <a:solidFill>
                  <a:schemeClr val="dk2"/>
                </a:solidFill>
              </a:rPr>
              <a:t>4.1.(</a:t>
            </a:r>
            <a:r>
              <a:rPr lang="en-GB" sz="1400" b="1" dirty="0" err="1">
                <a:solidFill>
                  <a:schemeClr val="dk2"/>
                </a:solidFill>
              </a:rPr>
              <a:t>contd</a:t>
            </a:r>
            <a:r>
              <a:rPr lang="en-GB" sz="1400" b="1" dirty="0">
                <a:solidFill>
                  <a:schemeClr val="dk2"/>
                </a:solidFill>
              </a:rPr>
              <a:t>)</a:t>
            </a:r>
            <a:r>
              <a:rPr lang="en-GB" sz="1200" dirty="0"/>
              <a:t> Then convert them into LAB color space and plot the three channels again.</a:t>
            </a:r>
            <a:endParaRPr sz="1200" dirty="0"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&lt;Insert plots here&gt;</a:t>
            </a:r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400" b="1">
                <a:solidFill>
                  <a:schemeClr val="dk2"/>
                </a:solidFill>
              </a:rPr>
              <a:t>4.2.</a:t>
            </a:r>
            <a:r>
              <a:rPr lang="en-GB" sz="1200"/>
              <a:t> </a:t>
            </a:r>
            <a:r>
              <a:rPr lang="en-GB" sz="1200">
                <a:solidFill>
                  <a:schemeClr val="dk1"/>
                </a:solidFill>
              </a:rPr>
              <a:t>Convert the input image from RGB to HSV.</a:t>
            </a:r>
            <a:endParaRPr sz="1200"/>
          </a:p>
        </p:txBody>
      </p:sp>
      <p:sp>
        <p:nvSpPr>
          <p:cNvPr id="109" name="Google Shape;109;p2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90204"/>
              <a:buNone/>
            </a:pPr>
            <a:r>
              <a:rPr lang="en-GB"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&lt;Insert HSV image here&gt;</a:t>
            </a:r>
            <a:endParaRPr lang="en-GB" sz="1400" b="0" i="0" u="none" strike="noStrike" cap="none">
              <a:solidFill>
                <a:schemeClr val="dk2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438800"/>
            <a:ext cx="3999900" cy="34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GB" sz="1200" b="1" dirty="0">
                <a:solidFill>
                  <a:schemeClr val="dk1"/>
                </a:solidFill>
              </a:rPr>
              <a:t>5.1</a:t>
            </a:r>
            <a:r>
              <a:rPr lang="en-GB" sz="1200" dirty="0">
                <a:solidFill>
                  <a:schemeClr val="dk1"/>
                </a:solidFill>
              </a:rPr>
              <a:t> Display the cat image with the identity filter.</a:t>
            </a:r>
            <a:endParaRPr lang="en-GB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GB" sz="1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dirty="0"/>
              <a:t>&lt;Insert plot here&gt;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dirty="0"/>
          </a:p>
        </p:txBody>
      </p:sp>
      <p:sp>
        <p:nvSpPr>
          <p:cNvPr id="4" name="Google Shape;96;p19"/>
          <p:cNvSpPr txBox="1"/>
          <p:nvPr/>
        </p:nvSpPr>
        <p:spPr>
          <a:xfrm>
            <a:off x="4431942" y="434007"/>
            <a:ext cx="3999900" cy="34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US" sz="1200" dirty="0">
                <a:solidFill>
                  <a:schemeClr val="dk1"/>
                </a:solidFill>
              </a:rPr>
              <a:t>Display the cat image with the blur filter.</a:t>
            </a:r>
            <a:endParaRPr lang="en-US" sz="1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US" sz="1200" b="1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dirty="0"/>
              <a:t>&lt;Insert plot here&gt;</a:t>
            </a:r>
            <a:endParaRPr lang="en-US" dirty="0"/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US" b="1" dirty="0"/>
          </a:p>
          <a:p>
            <a:pPr marL="0" indent="0">
              <a:buClr>
                <a:schemeClr val="dk1"/>
              </a:buClr>
              <a:buFont typeface="Arial" panose="020B0604020202090204"/>
              <a:buNone/>
            </a:pPr>
            <a:endParaRPr lang="en-US" dirty="0"/>
          </a:p>
        </p:txBody>
      </p:sp>
      <p:sp>
        <p:nvSpPr>
          <p:cNvPr id="5" name="Google Shape;96;p19"/>
          <p:cNvSpPr txBox="1"/>
          <p:nvPr/>
        </p:nvSpPr>
        <p:spPr>
          <a:xfrm>
            <a:off x="572100" y="2692792"/>
            <a:ext cx="3999900" cy="34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US" sz="1200" dirty="0">
                <a:solidFill>
                  <a:schemeClr val="dk1"/>
                </a:solidFill>
              </a:rPr>
              <a:t>Display the cat image with the Sobel filter.</a:t>
            </a:r>
            <a:endParaRPr lang="en-US" sz="1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US" sz="1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sz="1200" dirty="0"/>
              <a:t>&lt;Insert plot here&gt;</a:t>
            </a:r>
            <a:endParaRPr lang="en-US" sz="1200" dirty="0"/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US" sz="1200" dirty="0">
                <a:solidFill>
                  <a:schemeClr val="dk1"/>
                </a:solidFill>
              </a:rPr>
              <a:t> </a:t>
            </a:r>
            <a:endParaRPr lang="en-US" b="1" dirty="0"/>
          </a:p>
          <a:p>
            <a:pPr marL="0" indent="0">
              <a:buClr>
                <a:schemeClr val="dk1"/>
              </a:buClr>
              <a:buFont typeface="Arial" panose="020B0604020202090204"/>
              <a:buNone/>
            </a:pPr>
            <a:endParaRPr lang="en-US" dirty="0"/>
          </a:p>
        </p:txBody>
      </p:sp>
      <p:sp>
        <p:nvSpPr>
          <p:cNvPr id="6" name="Google Shape;96;p19"/>
          <p:cNvSpPr txBox="1"/>
          <p:nvPr/>
        </p:nvSpPr>
        <p:spPr>
          <a:xfrm>
            <a:off x="4431942" y="2687999"/>
            <a:ext cx="3999900" cy="34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US" sz="1200" dirty="0">
                <a:solidFill>
                  <a:schemeClr val="dk1"/>
                </a:solidFill>
              </a:rPr>
              <a:t>Display the cat image with the Laplacian filter.</a:t>
            </a:r>
            <a:endParaRPr lang="en-US" sz="1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US" sz="1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sz="1200" dirty="0"/>
              <a:t>&lt;Insert plot here&gt;</a:t>
            </a:r>
            <a:endParaRPr lang="en-US" sz="1200" dirty="0"/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US" sz="1200" dirty="0">
                <a:solidFill>
                  <a:schemeClr val="dk1"/>
                </a:solidFill>
              </a:rPr>
              <a:t> </a:t>
            </a:r>
            <a:endParaRPr lang="en-US" b="1" dirty="0"/>
          </a:p>
          <a:p>
            <a:pPr marL="0" indent="0">
              <a:buClr>
                <a:schemeClr val="dk1"/>
              </a:buClr>
              <a:buFont typeface="Arial" panose="020B0604020202090204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438800"/>
            <a:ext cx="3999900" cy="34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GB" sz="1200" b="1" dirty="0">
                <a:solidFill>
                  <a:schemeClr val="dk1"/>
                </a:solidFill>
              </a:rPr>
              <a:t>5.2</a:t>
            </a:r>
            <a:r>
              <a:rPr lang="en-GB" sz="1200" dirty="0">
                <a:solidFill>
                  <a:schemeClr val="dk1"/>
                </a:solidFill>
              </a:rPr>
              <a:t> Display </a:t>
            </a:r>
            <a:r>
              <a:rPr lang="en-US" sz="1200" dirty="0">
                <a:solidFill>
                  <a:schemeClr val="dk1"/>
                </a:solidFill>
              </a:rPr>
              <a:t>the hybrid image.</a:t>
            </a:r>
            <a:endParaRPr lang="en-US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US" sz="1200" b="1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dirty="0"/>
              <a:t>&lt;Insert plot here&gt;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</a:pPr>
            <a:endParaRPr dirty="0"/>
          </a:p>
        </p:txBody>
      </p:sp>
      <p:sp>
        <p:nvSpPr>
          <p:cNvPr id="4" name="Google Shape;96;p19"/>
          <p:cNvSpPr txBox="1"/>
          <p:nvPr/>
        </p:nvSpPr>
        <p:spPr>
          <a:xfrm>
            <a:off x="4311600" y="438800"/>
            <a:ext cx="3999900" cy="34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r>
              <a:rPr lang="en-US" sz="1200" dirty="0">
                <a:solidFill>
                  <a:schemeClr val="dk1"/>
                </a:solidFill>
              </a:rPr>
              <a:t>Display the multiscale hybrid image visualization.</a:t>
            </a:r>
            <a:endParaRPr lang="en-US" sz="1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US" sz="1200" b="1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dirty="0"/>
              <a:t>&lt;Insert plot here&gt;</a:t>
            </a:r>
            <a:endParaRPr lang="en-US" dirty="0"/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Font typeface="Arial" panose="020B0604020202090204"/>
              <a:buNone/>
            </a:pPr>
            <a:endParaRPr lang="en-US" b="1" dirty="0"/>
          </a:p>
          <a:p>
            <a:pPr marL="0" indent="0">
              <a:buClr>
                <a:schemeClr val="dk1"/>
              </a:buClr>
              <a:buFont typeface="Arial" panose="020B0604020202090204"/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2633</Words>
  <Application>WPS Writer</Application>
  <PresentationFormat>On-screen Show (16:9)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Courier New</vt:lpstr>
      <vt:lpstr>微软雅黑</vt:lpstr>
      <vt:lpstr>汉仪旗黑</vt:lpstr>
      <vt:lpstr>宋体</vt:lpstr>
      <vt:lpstr>Arial Unicode MS</vt:lpstr>
      <vt:lpstr>汉仪书宋二KW</vt:lpstr>
      <vt:lpstr>Simple Light</vt:lpstr>
      <vt:lpstr>PS1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4.1. Load the images and plot their R, G, B channels separately as grayscale images using plt.imshow()</vt:lpstr>
      <vt:lpstr>4.1.(contd) Then convert them into LAB color space and plot the three channels again.</vt:lpstr>
      <vt:lpstr>4.2. Convert the input image from RGB to HSV.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4476 Spring 2022 PS1</dc:title>
  <dc:creator/>
  <cp:lastModifiedBy>2020011843</cp:lastModifiedBy>
  <cp:revision>6</cp:revision>
  <dcterms:created xsi:type="dcterms:W3CDTF">2025-08-19T03:29:16Z</dcterms:created>
  <dcterms:modified xsi:type="dcterms:W3CDTF">2025-08-19T03:29:16Z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FDDE9EAF1952C5568CEFA368F51624E3_42</vt:lpwstr>
  </property>
  <property fmtid="{D5CDD505-2E9C-101B-9397-08002B2CF9AE}" pid="3" name="KSOProductBuildVer">
    <vt:lpwstr>1033-6.9.0.8865</vt:lpwstr>
  </property>
</Properties>
</file>