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>
      <p:cViewPr varScale="1">
        <p:scale>
          <a:sx n="161" d="100"/>
          <a:sy n="161" d="100"/>
        </p:scale>
        <p:origin x="78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20120" cy="26546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IN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34160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body"/>
          </p:nvPr>
        </p:nvSpPr>
        <p:spPr>
          <a:xfrm>
            <a:off x="311760" y="2936880"/>
            <a:ext cx="852012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4677840" y="115236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31176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body"/>
          </p:nvPr>
        </p:nvSpPr>
        <p:spPr>
          <a:xfrm>
            <a:off x="4677840" y="2936880"/>
            <a:ext cx="415764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5"/>
          <p:cNvSpPr>
            <a:spLocks noGrp="1"/>
          </p:cNvSpPr>
          <p:nvPr>
            <p:ph type="body"/>
          </p:nvPr>
        </p:nvSpPr>
        <p:spPr>
          <a:xfrm>
            <a:off x="31176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6"/>
          <p:cNvSpPr>
            <a:spLocks noGrp="1"/>
          </p:cNvSpPr>
          <p:nvPr>
            <p:ph type="body"/>
          </p:nvPr>
        </p:nvSpPr>
        <p:spPr>
          <a:xfrm>
            <a:off x="319248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7"/>
          <p:cNvSpPr>
            <a:spLocks noGrp="1"/>
          </p:cNvSpPr>
          <p:nvPr>
            <p:ph type="body"/>
          </p:nvPr>
        </p:nvSpPr>
        <p:spPr>
          <a:xfrm>
            <a:off x="6073200" y="2936880"/>
            <a:ext cx="2743200" cy="1629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</p:spPr>
        <p:txBody>
          <a:bodyPr tIns="91440" bIns="91440" anchor="b">
            <a:noAutofit/>
          </a:bodyPr>
          <a:lstStyle/>
          <a:p>
            <a:r>
              <a:rPr lang="en-IN" sz="52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" name="PlaceHolder 2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85CB800C-2A34-4A1E-820A-1186C3529C80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IN" sz="10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0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4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42" name="PlaceHolder 4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4D83F0A4-FF1A-498C-9163-EC0CF5CCD11C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IN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r>
              <a:rPr lang="en-IN" sz="28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</p:spPr>
        <p:txBody>
          <a:bodyPr tIns="91440" bIns="91440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sldNum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</p:spPr>
        <p:txBody>
          <a:bodyPr tIns="91440" bIns="91440" anchor="ctr">
            <a:noAutofit/>
          </a:bodyPr>
          <a:lstStyle/>
          <a:p>
            <a:pPr algn="r">
              <a:lnSpc>
                <a:spcPct val="100000"/>
              </a:lnSpc>
              <a:tabLst>
                <a:tab pos="0" algn="l"/>
              </a:tabLst>
            </a:pPr>
            <a:fld id="{6F7AEE80-318A-4495-A68A-24523E33B19A}" type="slidenum">
              <a:rPr lang="en" sz="1000" b="0" strike="noStrike" spc="-1">
                <a:solidFill>
                  <a:srgbClr val="595959"/>
                </a:solidFill>
                <a:latin typeface="Arial"/>
                <a:ea typeface="Arial"/>
              </a:rPr>
              <a:t>‹#›</a:t>
            </a:fld>
            <a:endParaRPr lang="en-IN" sz="10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extShape 1"/>
          <p:cNvSpPr txBox="1"/>
          <p:nvPr/>
        </p:nvSpPr>
        <p:spPr>
          <a:xfrm>
            <a:off x="311760" y="23040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tIns="91440" bIns="91440" anchor="b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5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CS 6476 PS2</a:t>
            </a:r>
            <a:endParaRPr lang="en-IN" sz="52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Shape 2"/>
          <p:cNvSpPr txBox="1"/>
          <p:nvPr/>
        </p:nvSpPr>
        <p:spPr>
          <a:xfrm>
            <a:off x="311760" y="2320200"/>
            <a:ext cx="8520120" cy="179712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&lt;name&gt;</a:t>
            </a:r>
            <a:endParaRPr lang="en-IN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&lt;GT email&gt;</a:t>
            </a:r>
            <a:endParaRPr lang="en-IN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&lt;GT username&gt;</a:t>
            </a:r>
            <a:endParaRPr lang="en-IN" sz="2800" b="0" strike="noStrike" spc="-1">
              <a:latin typeface="Arial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595959"/>
                </a:solidFill>
                <a:latin typeface="Arial"/>
                <a:ea typeface="Arial"/>
              </a:rPr>
              <a:t>&lt;GTID&gt;</a:t>
            </a:r>
            <a:endParaRPr lang="en-IN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1.1: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Harris Corner Detector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Shape 2"/>
          <p:cNvSpPr txBox="1"/>
          <p:nvPr/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r>
              <a:rPr lang="en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visualization of Notre Dame interest points from ps2.ipynb here&gt;</a:t>
            </a:r>
            <a:r>
              <a:rPr lang="en" sz="1400" b="0" strike="noStrike" spc="-1">
                <a:solidFill>
                  <a:srgbClr val="C9211E"/>
                </a:solidFill>
                <a:latin typeface="Arial"/>
                <a:ea typeface="Arial"/>
              </a:rPr>
              <a:t> [2.5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Shape 3"/>
          <p:cNvSpPr txBox="1"/>
          <p:nvPr/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 insert visualization of Rushmore interest points from ps2.ipynb here &gt;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[2.5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1.1: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Harris Corner Detector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Shape 2"/>
          <p:cNvSpPr txBox="1"/>
          <p:nvPr/>
        </p:nvSpPr>
        <p:spPr>
          <a:xfrm>
            <a:off x="360000" y="108000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spcBef>
                <a:spcPts val="1599"/>
              </a:spcBef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 insert visualization of Gaudi interest points from ps2.ipynb here &gt;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[2.5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599"/>
              </a:spcBef>
              <a:spcAft>
                <a:spcPts val="1599"/>
              </a:spcAft>
              <a:tabLst>
                <a:tab pos="0" algn="l"/>
              </a:tabLst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1.1: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Harris Corner Detector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Shape 2"/>
          <p:cNvSpPr txBox="1"/>
          <p:nvPr/>
        </p:nvSpPr>
        <p:spPr>
          <a:xfrm>
            <a:off x="311760" y="1152360"/>
            <a:ext cx="8520120" cy="364176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 marL="285840" indent="-285480">
              <a:lnSpc>
                <a:spcPct val="115000"/>
              </a:lnSpc>
              <a:spcAft>
                <a:spcPts val="1599"/>
              </a:spcAft>
              <a:buClr>
                <a:srgbClr val="595959"/>
              </a:buClr>
              <a:buFont typeface="Arial"/>
              <a:buChar char="●"/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Briefly describe how the Harris corner detector works.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[1 pt]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15000"/>
              </a:lnSpc>
              <a:spcAft>
                <a:spcPts val="1599"/>
              </a:spcAft>
              <a:buClr>
                <a:srgbClr val="595959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What does the second_moments() helper function do?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[1 pt]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 marL="285840" indent="-285480">
              <a:lnSpc>
                <a:spcPct val="115000"/>
              </a:lnSpc>
              <a:spcAft>
                <a:spcPts val="1599"/>
              </a:spcAft>
              <a:buClr>
                <a:srgbClr val="595959"/>
              </a:buClr>
              <a:buFont typeface="Arial"/>
              <a:buChar char="●"/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What does the corner_response() helper function do?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[1 pt]</a:t>
            </a:r>
            <a:br/>
            <a:r>
              <a:rPr lang="en-US" sz="1400" b="0" strike="noStrike" spc="-1">
                <a:solidFill>
                  <a:srgbClr val="595959"/>
                </a:solidFill>
                <a:latin typeface="Arial"/>
              </a:rPr>
              <a:t> 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1.3: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Feature Matching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 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TextShape 2"/>
          <p:cNvSpPr txBox="1"/>
          <p:nvPr/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feature matching visualization of Notre Dame from ps2.ipynb&gt;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[2.5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Shape 3"/>
          <p:cNvSpPr txBox="1"/>
          <p:nvPr/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feature matching visualization of Rushmore from ps2.ipynb &gt;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[2.5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1.3: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Feature Matching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Shape 2"/>
          <p:cNvSpPr txBox="1"/>
          <p:nvPr/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feature matching visualization of Gaudi from ps2.ipynb &gt;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 [2.5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Shape 3"/>
          <p:cNvSpPr txBox="1"/>
          <p:nvPr/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&lt;Describe your implementation of feature matching.&gt;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[1.5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Results: Ground Truth Comparison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Shape 2"/>
          <p:cNvSpPr txBox="1"/>
          <p:nvPr/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visualization of ground truth comparison with Notre Dame from ps2.ipynb here&gt;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 [1 pt]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Shape 3"/>
          <p:cNvSpPr txBox="1"/>
          <p:nvPr/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visualization of ground truth comparison with Rushmore from ps2.ipynb here&gt;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[1 pt]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Results</a:t>
            </a: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: </a:t>
            </a:r>
            <a:r>
              <a:rPr lang="en-US" sz="2800" b="0" strike="noStrike" spc="-1">
                <a:solidFill>
                  <a:srgbClr val="000000"/>
                </a:solidFill>
                <a:latin typeface="Arial"/>
                <a:ea typeface="Arial"/>
              </a:rPr>
              <a:t>Ground Truth Comparison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Shape 2"/>
          <p:cNvSpPr txBox="1"/>
          <p:nvPr/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visualization of ground truth comparison with Gaudi from ps2.ipynb here&gt;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 [1 pt]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Shape 3"/>
          <p:cNvSpPr txBox="1"/>
          <p:nvPr/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595959"/>
                </a:solidFill>
                <a:latin typeface="Arial"/>
                <a:ea typeface="Arial"/>
              </a:rPr>
              <a:t>&lt;Insert numerical performances on each image pair here. Also discuss what happens when you change the 4x4 subgrid to 2x2, 5x5, 7x7, 15x15 etc?&gt; </a:t>
            </a:r>
            <a:r>
              <a:rPr lang="en-US" sz="1400" b="0" strike="noStrike" spc="-1">
                <a:solidFill>
                  <a:srgbClr val="C9211E"/>
                </a:solidFill>
                <a:latin typeface="Arial"/>
                <a:ea typeface="Arial"/>
              </a:rPr>
              <a:t>[2.5 pts]</a:t>
            </a:r>
            <a:endParaRPr lang="en-IN" sz="14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1.4(a): Hyperparameter Tuning part 1 [Extra credit]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TextShape 2"/>
          <p:cNvSpPr txBox="1"/>
          <p:nvPr/>
        </p:nvSpPr>
        <p:spPr>
          <a:xfrm>
            <a:off x="311760" y="1152360"/>
            <a:ext cx="8520120" cy="28094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&lt;Insert images of the ground truth correspondence and their corresponding accuracies for varying sigma in the second moments [3, 6, 10, 30] &gt; </a:t>
            </a:r>
            <a:r>
              <a:rPr lang="en-US" sz="18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[0.5 pts]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CustomShape 3"/>
          <p:cNvSpPr/>
          <p:nvPr/>
        </p:nvSpPr>
        <p:spPr>
          <a:xfrm>
            <a:off x="335880" y="3961800"/>
            <a:ext cx="8520120" cy="5166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When changing the values for large sigma (&gt;20), why are the accuracies generally the same? </a:t>
            </a:r>
            <a:r>
              <a:rPr lang="en-US" sz="1400" b="1" strike="noStrike" spc="-1">
                <a:solidFill>
                  <a:srgbClr val="C9211E"/>
                </a:solidFill>
                <a:latin typeface="Arial"/>
                <a:ea typeface="Arial"/>
              </a:rPr>
              <a:t>[0.5 pts] </a:t>
            </a:r>
            <a:endParaRPr lang="en-IN" sz="1400" b="0" strike="noStrike" spc="-1">
              <a:solidFill>
                <a:srgbClr val="2A60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1.4(a): Hyperparameter Tuning part 2 [Extra credit]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Shape 2"/>
          <p:cNvSpPr txBox="1"/>
          <p:nvPr/>
        </p:nvSpPr>
        <p:spPr>
          <a:xfrm>
            <a:off x="311760" y="1152360"/>
            <a:ext cx="8520120" cy="28094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&lt;Insert images of the ground truth correspondence and their corresponding accuracies for varying feature width in the SIFT [8, 16, 24, 32] &gt; </a:t>
            </a:r>
            <a:r>
              <a:rPr lang="en-US" sz="18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[0.5 pts]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CustomShape 3"/>
          <p:cNvSpPr/>
          <p:nvPr/>
        </p:nvSpPr>
        <p:spPr>
          <a:xfrm>
            <a:off x="311760" y="4096800"/>
            <a:ext cx="8520120" cy="303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b="1" strike="noStrike" spc="-1">
                <a:solidFill>
                  <a:srgbClr val="000000"/>
                </a:solidFill>
                <a:latin typeface="Arial"/>
                <a:ea typeface="Arial"/>
              </a:rPr>
              <a:t>What is the significance of changing the feature width in SIFT? </a:t>
            </a:r>
            <a:r>
              <a:rPr lang="en-US" sz="1400" b="1" strike="noStrike" spc="-1">
                <a:solidFill>
                  <a:srgbClr val="C9211E"/>
                </a:solidFill>
                <a:latin typeface="Arial"/>
                <a:ea typeface="Arial"/>
              </a:rPr>
              <a:t>[0.5 pts]</a:t>
            </a:r>
            <a:endParaRPr lang="en-IN" sz="1400" b="0" strike="noStrike" spc="-1">
              <a:solidFill>
                <a:srgbClr val="2A6099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TextShape 1"/>
          <p:cNvSpPr txBox="1"/>
          <p:nvPr/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00000"/>
              </a:lnSpc>
            </a:pPr>
            <a:r>
              <a:rPr lang="en" sz="2800" b="0" strike="noStrike" spc="-1">
                <a:solidFill>
                  <a:srgbClr val="000000"/>
                </a:solidFill>
                <a:latin typeface="Arial"/>
                <a:ea typeface="Arial"/>
              </a:rPr>
              <a:t>1.4(c): Accelerated Matching [Extra credit]</a:t>
            </a:r>
            <a:endParaRPr lang="en-IN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Shape 2"/>
          <p:cNvSpPr txBox="1"/>
          <p:nvPr/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>
            <a:noFill/>
          </a:ln>
        </p:spPr>
        <p:txBody>
          <a:bodyPr tIns="91440" bIns="91440">
            <a:noAutofit/>
          </a:bodyPr>
          <a:lstStyle/>
          <a:p>
            <a:pPr>
              <a:lnSpc>
                <a:spcPct val="115000"/>
              </a:lnSpc>
              <a:spcAft>
                <a:spcPts val="1599"/>
              </a:spcAft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595959"/>
                </a:solidFill>
                <a:latin typeface="Arial"/>
                <a:ea typeface="Arial"/>
              </a:rPr>
              <a:t>&lt;Insert Runtime/Accuracy of your faster matching implementation. What did you try and why is it faster?&gt; </a:t>
            </a:r>
            <a:r>
              <a:rPr lang="en-US" sz="1800" b="0" strike="noStrike" spc="-1" dirty="0">
                <a:solidFill>
                  <a:srgbClr val="C9211E"/>
                </a:solidFill>
                <a:latin typeface="Arial"/>
                <a:ea typeface="Arial"/>
              </a:rPr>
              <a:t>[1 pts]</a:t>
            </a: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pos="0" algn="l"/>
              </a:tabLst>
            </a:pPr>
            <a:endParaRPr lang="en-IN" sz="1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3608</TotalTime>
  <Words>463</Words>
  <Application>Microsoft Macintosh PowerPoint</Application>
  <PresentationFormat>On-screen Show (16:9)</PresentationFormat>
  <Paragraphs>37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Symbol</vt:lpstr>
      <vt:lpstr>Times New Roman</vt:lpstr>
      <vt:lpstr>Wingdings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4476 Project 2</dc:title>
  <dc:subject/>
  <dc:creator/>
  <dc:description/>
  <cp:lastModifiedBy>Song, Borun</cp:lastModifiedBy>
  <cp:revision>45</cp:revision>
  <dcterms:modified xsi:type="dcterms:W3CDTF">2024-01-25T17:18:31Z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10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11</vt:i4>
  </property>
</Properties>
</file>