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70" r:id="rId6"/>
    <p:sldId id="271" r:id="rId7"/>
    <p:sldId id="272" r:id="rId8"/>
    <p:sldId id="260" r:id="rId9"/>
    <p:sldId id="275" r:id="rId10"/>
    <p:sldId id="276" r:id="rId11"/>
    <p:sldId id="261" r:id="rId12"/>
    <p:sldId id="262" r:id="rId13"/>
    <p:sldId id="273" r:id="rId14"/>
    <p:sldId id="274"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pP4+BXBcg2uExO5AmEHM3YJAw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500"/>
    <p:restoredTop sz="94660"/>
  </p:normalViewPr>
  <p:slideViewPr>
    <p:cSldViewPr snapToGrid="0">
      <p:cViewPr>
        <p:scale>
          <a:sx n="83" d="100"/>
          <a:sy n="83" d="100"/>
        </p:scale>
        <p:origin x="797" y="3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01534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14747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61699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42712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89722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
        <p:cNvGrpSpPr/>
        <p:nvPr/>
      </p:nvGrpSpPr>
      <p:grpSpPr>
        <a:xfrm>
          <a:off x="0" y="0"/>
          <a:ext cx="0" cy="0"/>
          <a:chOff x="0" y="0"/>
          <a:chExt cx="0" cy="0"/>
        </a:xfrm>
      </p:grpSpPr>
      <p:sp>
        <p:nvSpPr>
          <p:cNvPr id="14" name="Google Shape;14;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6" name="Google Shape;16;p2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7" name="Google Shape;17;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2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0" name="Google Shape;20;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2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2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2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3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pytorch.org/tutorials/beginner/blitz/neural_networks_tutorial.html"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200"/>
              <a:buNone/>
            </a:pPr>
            <a:r>
              <a:rPr lang="en"/>
              <a:t>CS 4476 </a:t>
            </a:r>
            <a:r>
              <a:rPr lang="en" dirty="0"/>
              <a:t>PS4</a:t>
            </a:r>
            <a:endParaRPr dirty="0"/>
          </a:p>
        </p:txBody>
      </p:sp>
      <p:sp>
        <p:nvSpPr>
          <p:cNvPr id="55" name="Google Shape;55;p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dirty="0"/>
              <a:t>Devin Fromond</a:t>
            </a:r>
            <a:endParaRPr dirty="0"/>
          </a:p>
          <a:p>
            <a:pPr marL="0" lvl="0" indent="0" algn="ctr" rtl="0">
              <a:lnSpc>
                <a:spcPct val="100000"/>
              </a:lnSpc>
              <a:spcBef>
                <a:spcPts val="0"/>
              </a:spcBef>
              <a:spcAft>
                <a:spcPts val="0"/>
              </a:spcAft>
              <a:buSzPts val="2800"/>
              <a:buNone/>
            </a:pPr>
            <a:r>
              <a:rPr lang="en" dirty="0"/>
              <a:t>dfromond3@gatech.edu</a:t>
            </a:r>
            <a:endParaRPr dirty="0"/>
          </a:p>
          <a:p>
            <a:pPr marL="0" lvl="0" indent="0" algn="ctr" rtl="0">
              <a:lnSpc>
                <a:spcPct val="100000"/>
              </a:lnSpc>
              <a:spcBef>
                <a:spcPts val="0"/>
              </a:spcBef>
              <a:spcAft>
                <a:spcPts val="0"/>
              </a:spcAft>
              <a:buSzPts val="2800"/>
              <a:buNone/>
            </a:pPr>
            <a:r>
              <a:rPr lang="en" dirty="0"/>
              <a:t>903761713</a:t>
            </a:r>
            <a:endParaRPr dirty="0"/>
          </a:p>
          <a:p>
            <a:pPr marL="0" lvl="0" indent="0" algn="ctr" rtl="0">
              <a:lnSpc>
                <a:spcPct val="100000"/>
              </a:lnSpc>
              <a:spcBef>
                <a:spcPts val="0"/>
              </a:spcBef>
              <a:spcAft>
                <a:spcPts val="0"/>
              </a:spcAft>
              <a:buSzPts val="28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2"/>
          <p:cNvSpPr txBox="1">
            <a:spLocks noGrp="1"/>
          </p:cNvSpPr>
          <p:nvPr>
            <p:ph type="body" idx="1"/>
          </p:nvPr>
        </p:nvSpPr>
        <p:spPr>
          <a:xfrm>
            <a:off x="311700" y="438800"/>
            <a:ext cx="4245909" cy="413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Part 1: Standard </a:t>
            </a:r>
            <a:r>
              <a:rPr lang="en" b="1" dirty="0">
                <a:solidFill>
                  <a:schemeClr val="bg2"/>
                </a:solidFill>
              </a:rPr>
              <a:t>Scaler</a:t>
            </a:r>
            <a:r>
              <a:rPr lang="en" b="1" dirty="0"/>
              <a:t>: Why did we use </a:t>
            </a:r>
            <a:r>
              <a:rPr lang="en" b="1" dirty="0" err="1"/>
              <a:t>StandardScaler</a:t>
            </a:r>
            <a:r>
              <a:rPr lang="en" b="1" dirty="0"/>
              <a:t> instead of looping over all the dataset twice </a:t>
            </a:r>
            <a:r>
              <a:rPr lang="en" b="1" dirty="0">
                <a:solidFill>
                  <a:schemeClr val="bg2"/>
                </a:solidFill>
              </a:rPr>
              <a:t>for</a:t>
            </a:r>
            <a:r>
              <a:rPr lang="en" b="1" dirty="0"/>
              <a:t> mean and standard deviation? Why a simple loop will not be a good choice in a deployed production grade ML system?</a:t>
            </a:r>
            <a:endParaRPr b="1" dirty="0"/>
          </a:p>
          <a:p>
            <a:pPr marL="0" lvl="0" indent="0" algn="l" rtl="0">
              <a:lnSpc>
                <a:spcPct val="114999"/>
              </a:lnSpc>
              <a:spcBef>
                <a:spcPts val="0"/>
              </a:spcBef>
              <a:spcAft>
                <a:spcPts val="0"/>
              </a:spcAft>
              <a:buSzPts val="1400"/>
              <a:buNone/>
            </a:pPr>
            <a:r>
              <a:rPr lang="en" dirty="0"/>
              <a:t>&lt;text answer here&gt;</a:t>
            </a:r>
            <a:endParaRPr b="1" dirty="0"/>
          </a:p>
          <a:p>
            <a:pPr marL="0" lvl="0" indent="0" algn="l" rtl="0">
              <a:lnSpc>
                <a:spcPct val="115000"/>
              </a:lnSpc>
              <a:spcBef>
                <a:spcPts val="1600"/>
              </a:spcBef>
              <a:spcAft>
                <a:spcPts val="0"/>
              </a:spcAft>
              <a:buSzPts val="1400"/>
              <a:buNone/>
            </a:pPr>
            <a:r>
              <a:rPr lang="en-US" dirty="0"/>
              <a:t>We used StandardScaler since it is able to compute both the mean and standard deviation in one pass as opposed to computing these with slow loops. These loops do not really utilize numpy or any other additional speed-ups. With a large dataset, we require efficiency – especially over loops.</a:t>
            </a: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p:txBody>
      </p:sp>
      <p:sp>
        <p:nvSpPr>
          <p:cNvPr id="61" name="Google Shape;61;p2"/>
          <p:cNvSpPr txBox="1"/>
          <p:nvPr/>
        </p:nvSpPr>
        <p:spPr>
          <a:xfrm>
            <a:off x="4571853" y="439718"/>
            <a:ext cx="4252633" cy="4130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1" i="0" u="none" strike="noStrike" cap="none" dirty="0">
                <a:solidFill>
                  <a:schemeClr val="dk2"/>
                </a:solidFill>
                <a:latin typeface="Arial"/>
                <a:ea typeface="Arial"/>
                <a:cs typeface="Arial"/>
                <a:sym typeface="Arial"/>
              </a:rPr>
              <a:t>Part 1: Why do we normalize our data (0 mean, unit standard deviation)?</a:t>
            </a:r>
            <a:endParaRPr dirty="0"/>
          </a:p>
          <a:p>
            <a:pPr marL="0" marR="0" lvl="0" indent="0" algn="l" rtl="0">
              <a:lnSpc>
                <a:spcPct val="114999"/>
              </a:lnSpc>
              <a:spcBef>
                <a:spcPts val="160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&lt;text answer here&gt;</a:t>
            </a:r>
            <a:endParaRPr sz="1400" b="0" i="0" u="none" strike="noStrike" cap="none" dirty="0">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400"/>
              <a:buFont typeface="Arial"/>
              <a:buNone/>
            </a:pPr>
            <a:r>
              <a:rPr lang="en-US" sz="1400" b="0" i="0" u="none" strike="noStrike" cap="none" dirty="0">
                <a:solidFill>
                  <a:schemeClr val="dk2"/>
                </a:solidFill>
                <a:latin typeface="Arial"/>
                <a:ea typeface="Arial"/>
                <a:cs typeface="Arial"/>
                <a:sym typeface="Arial"/>
              </a:rPr>
              <a:t>We must normalize our data to ensure all features have the same scale and so no one feature dominates others. </a:t>
            </a:r>
            <a:r>
              <a:rPr lang="en-US" dirty="0">
                <a:solidFill>
                  <a:schemeClr val="dk2"/>
                </a:solidFill>
              </a:rPr>
              <a:t>This goes back to the fairness principle and ensuring the model does not have any inherent bias.</a:t>
            </a:r>
            <a:endParaRPr sz="1400" b="0" i="0" u="none" strike="noStrike" cap="none" dirty="0">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400"/>
              <a:buFont typeface="Arial"/>
              <a:buNone/>
            </a:pPr>
            <a:endParaRPr sz="1400" b="0" i="0" u="none" strike="noStrike" cap="none" dirty="0">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400"/>
              <a:buFont typeface="Arial"/>
              <a:buNone/>
            </a:pPr>
            <a:endParaRPr sz="1400" b="0" i="0" u="none" strike="noStrike" cap="none" dirty="0">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400"/>
              <a:buFont typeface="Arial"/>
              <a:buNone/>
            </a:pPr>
            <a:endParaRPr sz="1400" b="0" i="0" u="none" strike="noStrike" cap="none" dirty="0">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400"/>
              <a:buFont typeface="Arial"/>
              <a:buNone/>
            </a:pPr>
            <a:endParaRPr sz="1400" b="0" i="0" u="none" strike="noStrike" cap="none" dirty="0">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3"/>
          <p:cNvSpPr txBox="1">
            <a:spLocks noGrp="1"/>
          </p:cNvSpPr>
          <p:nvPr>
            <p:ph type="body" idx="1"/>
          </p:nvPr>
        </p:nvSpPr>
        <p:spPr>
          <a:xfrm>
            <a:off x="311700" y="438800"/>
            <a:ext cx="4245909" cy="413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solidFill>
                  <a:schemeClr val="bg2"/>
                </a:solidFill>
              </a:rPr>
              <a:t>Part 3: Loss function. Why did we need a loss function?</a:t>
            </a:r>
            <a:endParaRPr dirty="0">
              <a:solidFill>
                <a:schemeClr val="bg2"/>
              </a:solidFill>
            </a:endParaRPr>
          </a:p>
          <a:p>
            <a:pPr marL="0" lvl="0" indent="0" algn="l" rtl="0">
              <a:lnSpc>
                <a:spcPct val="114999"/>
              </a:lnSpc>
              <a:spcBef>
                <a:spcPts val="1600"/>
              </a:spcBef>
              <a:spcAft>
                <a:spcPts val="0"/>
              </a:spcAft>
              <a:buSzPts val="1400"/>
              <a:buNone/>
            </a:pPr>
            <a:r>
              <a:rPr lang="en" dirty="0">
                <a:solidFill>
                  <a:schemeClr val="bg2"/>
                </a:solidFill>
              </a:rPr>
              <a:t>&lt;text answer here&gt;</a:t>
            </a:r>
            <a:endParaRPr dirty="0">
              <a:solidFill>
                <a:schemeClr val="bg2"/>
              </a:solidFill>
            </a:endParaRPr>
          </a:p>
          <a:p>
            <a:pPr marL="0" lvl="0" indent="0" algn="l" rtl="0">
              <a:lnSpc>
                <a:spcPct val="115000"/>
              </a:lnSpc>
              <a:spcBef>
                <a:spcPts val="1600"/>
              </a:spcBef>
              <a:spcAft>
                <a:spcPts val="0"/>
              </a:spcAft>
              <a:buSzPts val="1400"/>
              <a:buNone/>
            </a:pPr>
            <a:r>
              <a:rPr lang="en-US" dirty="0">
                <a:solidFill>
                  <a:schemeClr val="bg2"/>
                </a:solidFill>
              </a:rPr>
              <a:t>We need a loss function to determine how far the model’s predictions are from the actual values of the data. The loss function provides feedback on its errors to dynamically improve accuracy during training.</a:t>
            </a:r>
            <a:endParaRPr dirty="0">
              <a:solidFill>
                <a:schemeClr val="bg2"/>
              </a:solidFill>
            </a:endParaRPr>
          </a:p>
          <a:p>
            <a:pPr marL="0" lvl="0" indent="0" algn="l" rtl="0">
              <a:lnSpc>
                <a:spcPct val="115000"/>
              </a:lnSpc>
              <a:spcBef>
                <a:spcPts val="1600"/>
              </a:spcBef>
              <a:spcAft>
                <a:spcPts val="0"/>
              </a:spcAft>
              <a:buSzPts val="1400"/>
              <a:buNone/>
            </a:pPr>
            <a:endParaRPr dirty="0">
              <a:solidFill>
                <a:schemeClr val="bg2"/>
              </a:solidFill>
            </a:endParaRPr>
          </a:p>
          <a:p>
            <a:pPr marL="0" lvl="0" indent="0" algn="l" rtl="0">
              <a:lnSpc>
                <a:spcPct val="115000"/>
              </a:lnSpc>
              <a:spcBef>
                <a:spcPts val="1600"/>
              </a:spcBef>
              <a:spcAft>
                <a:spcPts val="0"/>
              </a:spcAft>
              <a:buSzPts val="1400"/>
              <a:buNone/>
            </a:pPr>
            <a:endParaRPr dirty="0">
              <a:solidFill>
                <a:schemeClr val="bg2"/>
              </a:solidFill>
            </a:endParaRPr>
          </a:p>
          <a:p>
            <a:pPr marL="0" lvl="0" indent="0" algn="l" rtl="0">
              <a:lnSpc>
                <a:spcPct val="115000"/>
              </a:lnSpc>
              <a:spcBef>
                <a:spcPts val="1600"/>
              </a:spcBef>
              <a:spcAft>
                <a:spcPts val="0"/>
              </a:spcAft>
              <a:buSzPts val="1400"/>
              <a:buNone/>
            </a:pPr>
            <a:endParaRPr dirty="0">
              <a:solidFill>
                <a:schemeClr val="bg2"/>
              </a:solidFill>
            </a:endParaRPr>
          </a:p>
          <a:p>
            <a:pPr marL="0" lvl="0" indent="0" algn="l" rtl="0">
              <a:lnSpc>
                <a:spcPct val="115000"/>
              </a:lnSpc>
              <a:spcBef>
                <a:spcPts val="1600"/>
              </a:spcBef>
              <a:spcAft>
                <a:spcPts val="0"/>
              </a:spcAft>
              <a:buSzPts val="1400"/>
              <a:buNone/>
            </a:pPr>
            <a:endParaRPr dirty="0">
              <a:solidFill>
                <a:schemeClr val="bg2"/>
              </a:solidFill>
            </a:endParaRPr>
          </a:p>
        </p:txBody>
      </p:sp>
      <mc:AlternateContent xmlns:mc="http://schemas.openxmlformats.org/markup-compatibility/2006">
        <mc:Choice xmlns:a14="http://schemas.microsoft.com/office/drawing/2010/main" Requires="a14">
          <p:sp>
            <p:nvSpPr>
              <p:cNvPr id="2" name="Google Shape;67;p3">
                <a:extLst>
                  <a:ext uri="{FF2B5EF4-FFF2-40B4-BE49-F238E27FC236}">
                    <a16:creationId xmlns:a16="http://schemas.microsoft.com/office/drawing/2014/main" id="{9642CFEA-FC89-368D-9914-6498CE983F0B}"/>
                  </a:ext>
                </a:extLst>
              </p:cNvPr>
              <p:cNvSpPr txBox="1"/>
              <p:nvPr/>
            </p:nvSpPr>
            <p:spPr>
              <a:xfrm>
                <a:off x="4557609" y="506700"/>
                <a:ext cx="4518751" cy="4130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US" sz="1400" b="1" i="0" u="none" strike="noStrike" cap="none" dirty="0">
                    <a:solidFill>
                      <a:schemeClr val="bg2"/>
                    </a:solidFill>
                    <a:latin typeface="Arial"/>
                    <a:ea typeface="Arial"/>
                    <a:cs typeface="Arial"/>
                    <a:sym typeface="Arial"/>
                  </a:rPr>
                  <a:t>Part 3: [2 </a:t>
                </a:r>
                <a:r>
                  <a:rPr lang="en-US" sz="1400" b="1" i="0" u="none" strike="noStrike" cap="none" dirty="0" err="1">
                    <a:solidFill>
                      <a:schemeClr val="bg2"/>
                    </a:solidFill>
                    <a:latin typeface="Arial"/>
                    <a:ea typeface="Arial"/>
                    <a:cs typeface="Arial"/>
                    <a:sym typeface="Arial"/>
                  </a:rPr>
                  <a:t>pt</a:t>
                </a:r>
                <a:r>
                  <a:rPr lang="en-US" sz="1400" b="1" i="0" u="none" strike="noStrike" cap="none" dirty="0">
                    <a:solidFill>
                      <a:schemeClr val="bg2"/>
                    </a:solidFill>
                    <a:latin typeface="Arial"/>
                    <a:ea typeface="Arial"/>
                    <a:cs typeface="Arial"/>
                    <a:sym typeface="Arial"/>
                  </a:rPr>
                  <a:t> ] </a:t>
                </a:r>
                <a:r>
                  <a:rPr lang="en-US" sz="1400" b="0" i="0" u="none" strike="noStrike" cap="none" dirty="0">
                    <a:solidFill>
                      <a:schemeClr val="bg2"/>
                    </a:solidFill>
                    <a:latin typeface="Arial"/>
                    <a:ea typeface="Arial"/>
                    <a:cs typeface="Arial"/>
                    <a:sym typeface="Arial"/>
                  </a:rPr>
                  <a:t>KL-divergence is defined as</a:t>
                </a:r>
              </a:p>
              <a:p>
                <a:pPr lvl="0">
                  <a:lnSpc>
                    <a:spcPct val="115000"/>
                  </a:lnSpc>
                  <a:buClr>
                    <a:schemeClr val="dk2"/>
                  </a:buClr>
                  <a:buSzPts val="1400"/>
                </a:pPr>
                <a14:m>
                  <m:oMathPara xmlns:m="http://schemas.openxmlformats.org/officeDocument/2006/math">
                    <m:oMathParaPr>
                      <m:jc m:val="centerGroup"/>
                    </m:oMathParaPr>
                    <m:oMath xmlns:m="http://schemas.openxmlformats.org/officeDocument/2006/math">
                      <m:sSub>
                        <m:sSubPr>
                          <m:ctrlPr>
                            <a:rPr lang="ar-AE" sz="1400" b="0" i="1" u="none" strike="noStrike" cap="none" smtClean="0">
                              <a:solidFill>
                                <a:schemeClr val="bg2"/>
                              </a:solidFill>
                              <a:latin typeface="Cambria Math" panose="02040503050406030204" pitchFamily="18" charset="0"/>
                              <a:cs typeface="Arial"/>
                              <a:sym typeface="Arial"/>
                            </a:rPr>
                          </m:ctrlPr>
                        </m:sSubPr>
                        <m:e>
                          <m:r>
                            <a:rPr lang="ar-AE" sz="1400" b="0" i="1" u="none" strike="noStrike" cap="none" smtClean="0">
                              <a:solidFill>
                                <a:schemeClr val="bg2"/>
                              </a:solidFill>
                              <a:latin typeface="Cambria Math" panose="02040503050406030204" pitchFamily="18" charset="0"/>
                              <a:cs typeface="Arial"/>
                              <a:sym typeface="Arial"/>
                            </a:rPr>
                            <m:t>𝐷</m:t>
                          </m:r>
                        </m:e>
                        <m:sub>
                          <m:r>
                            <a:rPr lang="ar-AE" sz="1400" b="0" i="1" u="none" strike="noStrike" cap="none" smtClean="0">
                              <a:solidFill>
                                <a:schemeClr val="bg2"/>
                              </a:solidFill>
                              <a:latin typeface="Cambria Math" panose="02040503050406030204" pitchFamily="18" charset="0"/>
                              <a:cs typeface="Arial"/>
                              <a:sym typeface="Arial"/>
                            </a:rPr>
                            <m:t>𝐾𝐿</m:t>
                          </m:r>
                        </m:sub>
                      </m:sSub>
                      <m:r>
                        <a:rPr lang="ar-AE" sz="1400" b="0" i="1" u="none" strike="noStrike" cap="none" smtClean="0">
                          <a:solidFill>
                            <a:schemeClr val="bg2"/>
                          </a:solidFill>
                          <a:latin typeface="Cambria Math" panose="02040503050406030204" pitchFamily="18" charset="0"/>
                          <a:cs typeface="Arial"/>
                          <a:sym typeface="Arial"/>
                        </a:rPr>
                        <m:t>(</m:t>
                      </m:r>
                      <m:r>
                        <a:rPr lang="ar-AE" sz="1400" b="0" i="1" u="none" strike="noStrike" cap="none" smtClean="0">
                          <a:solidFill>
                            <a:schemeClr val="bg2"/>
                          </a:solidFill>
                          <a:latin typeface="Cambria Math" panose="02040503050406030204" pitchFamily="18" charset="0"/>
                          <a:cs typeface="Arial"/>
                          <a:sym typeface="Arial"/>
                        </a:rPr>
                        <m:t>𝑃</m:t>
                      </m:r>
                      <m:r>
                        <a:rPr lang="ar-AE" sz="1400" b="0" i="1" u="none" strike="noStrike" cap="none" smtClean="0">
                          <a:solidFill>
                            <a:schemeClr val="bg2"/>
                          </a:solidFill>
                          <a:latin typeface="Cambria Math" panose="02040503050406030204" pitchFamily="18" charset="0"/>
                          <a:cs typeface="Arial"/>
                          <a:sym typeface="Arial"/>
                        </a:rPr>
                        <m:t>|</m:t>
                      </m:r>
                      <m:d>
                        <m:dPr>
                          <m:begChr m:val="|"/>
                          <m:ctrlPr>
                            <a:rPr lang="ar-AE" sz="1400" b="0" i="1" u="none" strike="noStrike" cap="none" smtClean="0">
                              <a:solidFill>
                                <a:schemeClr val="bg2"/>
                              </a:solidFill>
                              <a:latin typeface="Cambria Math" panose="02040503050406030204" pitchFamily="18" charset="0"/>
                              <a:cs typeface="Arial"/>
                              <a:sym typeface="Arial"/>
                            </a:rPr>
                          </m:ctrlPr>
                        </m:dPr>
                        <m:e>
                          <m:r>
                            <a:rPr lang="ar-AE" sz="1400" b="0" i="1" u="none" strike="noStrike" cap="none" smtClean="0">
                              <a:solidFill>
                                <a:schemeClr val="bg2"/>
                              </a:solidFill>
                              <a:latin typeface="Cambria Math" panose="02040503050406030204" pitchFamily="18" charset="0"/>
                              <a:cs typeface="Arial"/>
                              <a:sym typeface="Arial"/>
                            </a:rPr>
                            <m:t>𝑄</m:t>
                          </m:r>
                        </m:e>
                      </m:d>
                      <m:r>
                        <a:rPr lang="ar-AE" sz="1400" b="0" i="1" u="none" strike="noStrike" cap="none" smtClean="0">
                          <a:solidFill>
                            <a:schemeClr val="bg2"/>
                          </a:solidFill>
                          <a:latin typeface="Cambria Math" panose="02040503050406030204" pitchFamily="18" charset="0"/>
                          <a:cs typeface="Arial"/>
                          <a:sym typeface="Arial"/>
                        </a:rPr>
                        <m:t>=</m:t>
                      </m:r>
                      <m:sSub>
                        <m:sSubPr>
                          <m:ctrlP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ctrlPr>
                        </m:sSubPr>
                        <m:e>
                          <m:r>
                            <a:rPr lang="ar-AE" i="1">
                              <a:solidFill>
                                <a:schemeClr val="bg2"/>
                              </a:solidFill>
                              <a:latin typeface="Cambria Math" panose="02040503050406030204" pitchFamily="18" charset="0"/>
                              <a:ea typeface="Cambria Math" panose="02040503050406030204" pitchFamily="18" charset="0"/>
                            </a:rPr>
                            <m:t>𝔼</m:t>
                          </m:r>
                        </m:e>
                        <m:sub>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𝑋</m:t>
                          </m:r>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m:t>
                          </m:r>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𝑃</m:t>
                          </m:r>
                        </m:sub>
                      </m:sSub>
                      <m:d>
                        <m:dPr>
                          <m:begChr m:val="["/>
                          <m:endChr m:val="]"/>
                          <m:ctrlP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ctrlPr>
                        </m:dPr>
                        <m:e>
                          <m:func>
                            <m:funcPr>
                              <m:ctrlP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ctrlPr>
                            </m:funcPr>
                            <m:fName>
                              <m:r>
                                <m:rPr>
                                  <m:sty m:val="p"/>
                                </m:rPr>
                                <a:rPr lang="en-US" sz="1400" b="0" i="0" u="none" strike="noStrike" cap="none" smtClean="0">
                                  <a:solidFill>
                                    <a:schemeClr val="bg2"/>
                                  </a:solidFill>
                                  <a:latin typeface="Cambria Math" panose="02040503050406030204" pitchFamily="18" charset="0"/>
                                  <a:ea typeface="Cambria Math" panose="02040503050406030204" pitchFamily="18" charset="0"/>
                                  <a:sym typeface="Arial"/>
                                </a:rPr>
                                <m:t>log</m:t>
                              </m:r>
                            </m:fName>
                            <m:e>
                              <m:f>
                                <m:fPr>
                                  <m:ctrlP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ctrlPr>
                                </m:fPr>
                                <m:num>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𝑃</m:t>
                                  </m:r>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m:t>
                                  </m:r>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𝑥</m:t>
                                  </m:r>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m:t>
                                  </m:r>
                                </m:num>
                                <m:den>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𝑄</m:t>
                                  </m:r>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m:t>
                                  </m:r>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𝑥</m:t>
                                  </m:r>
                                  <m:r>
                                    <a:rPr lang="ar-AE" sz="1400" b="0" i="1" u="none" strike="noStrike" cap="none" smtClean="0">
                                      <a:solidFill>
                                        <a:schemeClr val="bg2"/>
                                      </a:solidFill>
                                      <a:latin typeface="Cambria Math" panose="02040503050406030204" pitchFamily="18" charset="0"/>
                                      <a:ea typeface="Cambria Math" panose="02040503050406030204" pitchFamily="18" charset="0"/>
                                      <a:sym typeface="Arial"/>
                                    </a:rPr>
                                    <m:t>)</m:t>
                                  </m:r>
                                </m:den>
                              </m:f>
                            </m:e>
                          </m:func>
                        </m:e>
                      </m:d>
                    </m:oMath>
                  </m:oMathPara>
                </a14:m>
                <a:endParaRPr lang="ar-AE" sz="1400" b="0" i="0" u="none" strike="noStrike" cap="none" dirty="0">
                  <a:solidFill>
                    <a:schemeClr val="bg2"/>
                  </a:solidFill>
                  <a:latin typeface="Arial"/>
                  <a:ea typeface="Arial"/>
                  <a:cs typeface="Arial"/>
                  <a:sym typeface="Arial"/>
                </a:endParaRPr>
              </a:p>
              <a:p>
                <a:pPr lvl="0">
                  <a:lnSpc>
                    <a:spcPct val="115000"/>
                  </a:lnSpc>
                  <a:buClr>
                    <a:schemeClr val="dk2"/>
                  </a:buClr>
                  <a:buSzPts val="1400"/>
                </a:pPr>
                <a:r>
                  <a:rPr lang="en-US" dirty="0">
                    <a:solidFill>
                      <a:schemeClr val="bg2"/>
                    </a:solidFill>
                  </a:rPr>
                  <a:t>Cross-entropy is defined as</a:t>
                </a:r>
              </a:p>
              <a:p>
                <a:pPr lvl="0">
                  <a:lnSpc>
                    <a:spcPct val="115000"/>
                  </a:lnSpc>
                  <a:buClr>
                    <a:schemeClr val="dk2"/>
                  </a:buClr>
                  <a:buSzPts val="1400"/>
                </a:pPr>
                <a14:m>
                  <m:oMathPara xmlns:m="http://schemas.openxmlformats.org/officeDocument/2006/math">
                    <m:oMathParaPr>
                      <m:jc m:val="centerGroup"/>
                    </m:oMathParaPr>
                    <m:oMath xmlns:m="http://schemas.openxmlformats.org/officeDocument/2006/math">
                      <m:r>
                        <a:rPr lang="en-US" sz="1400" b="0" i="1" u="none" strike="noStrike" cap="none" smtClean="0">
                          <a:solidFill>
                            <a:schemeClr val="bg2"/>
                          </a:solidFill>
                          <a:latin typeface="Cambria Math" panose="02040503050406030204" pitchFamily="18" charset="0"/>
                          <a:ea typeface="Arial"/>
                          <a:cs typeface="Arial"/>
                          <a:sym typeface="Arial"/>
                        </a:rPr>
                        <m:t>𝐻</m:t>
                      </m:r>
                      <m:d>
                        <m:dPr>
                          <m:ctrlPr>
                            <a:rPr lang="ar-AE" sz="1400" b="0" i="1" u="none" strike="noStrike" cap="none" smtClean="0">
                              <a:solidFill>
                                <a:schemeClr val="bg2"/>
                              </a:solidFill>
                              <a:latin typeface="Cambria Math" panose="02040503050406030204" pitchFamily="18" charset="0"/>
                              <a:ea typeface="Arial"/>
                              <a:cs typeface="Arial"/>
                              <a:sym typeface="Arial"/>
                            </a:rPr>
                          </m:ctrlPr>
                        </m:dPr>
                        <m:e>
                          <m:r>
                            <a:rPr lang="ar-AE" sz="1400" b="0" i="1" u="none" strike="noStrike" cap="none" smtClean="0">
                              <a:solidFill>
                                <a:schemeClr val="bg2"/>
                              </a:solidFill>
                              <a:latin typeface="Cambria Math" panose="02040503050406030204" pitchFamily="18" charset="0"/>
                              <a:ea typeface="Arial"/>
                              <a:cs typeface="Arial"/>
                              <a:sym typeface="Arial"/>
                            </a:rPr>
                            <m:t>𝑃</m:t>
                          </m:r>
                          <m:r>
                            <a:rPr lang="ar-AE" sz="1400" b="0" i="1" u="none" strike="noStrike" cap="none" smtClean="0">
                              <a:solidFill>
                                <a:schemeClr val="bg2"/>
                              </a:solidFill>
                              <a:latin typeface="Cambria Math" panose="02040503050406030204" pitchFamily="18" charset="0"/>
                              <a:ea typeface="Arial"/>
                              <a:cs typeface="Arial"/>
                              <a:sym typeface="Arial"/>
                            </a:rPr>
                            <m:t>,</m:t>
                          </m:r>
                          <m:r>
                            <a:rPr lang="ar-AE" sz="1400" b="0" i="1" u="none" strike="noStrike" cap="none" smtClean="0">
                              <a:solidFill>
                                <a:schemeClr val="bg2"/>
                              </a:solidFill>
                              <a:latin typeface="Cambria Math" panose="02040503050406030204" pitchFamily="18" charset="0"/>
                              <a:ea typeface="Arial"/>
                              <a:cs typeface="Arial"/>
                              <a:sym typeface="Arial"/>
                            </a:rPr>
                            <m:t>𝑄</m:t>
                          </m:r>
                        </m:e>
                      </m:d>
                      <m:r>
                        <a:rPr lang="ar-AE" sz="1400" b="0" i="1" u="none" strike="noStrike" cap="none" smtClean="0">
                          <a:solidFill>
                            <a:schemeClr val="bg2"/>
                          </a:solidFill>
                          <a:latin typeface="Cambria Math" panose="02040503050406030204" pitchFamily="18" charset="0"/>
                          <a:ea typeface="Arial"/>
                          <a:cs typeface="Arial"/>
                          <a:sym typeface="Arial"/>
                        </a:rPr>
                        <m:t>=−</m:t>
                      </m:r>
                      <m:sSub>
                        <m:sSubPr>
                          <m:ctrlPr>
                            <a:rPr lang="ar-AE" i="1">
                              <a:solidFill>
                                <a:schemeClr val="bg2"/>
                              </a:solidFill>
                              <a:latin typeface="Cambria Math" panose="02040503050406030204" pitchFamily="18" charset="0"/>
                              <a:ea typeface="Cambria Math" panose="02040503050406030204" pitchFamily="18" charset="0"/>
                            </a:rPr>
                          </m:ctrlPr>
                        </m:sSubPr>
                        <m:e>
                          <m:r>
                            <a:rPr lang="ar-AE" i="1">
                              <a:solidFill>
                                <a:schemeClr val="bg2"/>
                              </a:solidFill>
                              <a:latin typeface="Cambria Math" panose="02040503050406030204" pitchFamily="18" charset="0"/>
                              <a:ea typeface="Cambria Math" panose="02040503050406030204" pitchFamily="18" charset="0"/>
                            </a:rPr>
                            <m:t>𝔼</m:t>
                          </m:r>
                        </m:e>
                        <m:sub>
                          <m:r>
                            <a:rPr lang="ar-AE" i="1">
                              <a:solidFill>
                                <a:schemeClr val="bg2"/>
                              </a:solidFill>
                              <a:latin typeface="Cambria Math" panose="02040503050406030204" pitchFamily="18" charset="0"/>
                              <a:ea typeface="Cambria Math" panose="02040503050406030204" pitchFamily="18" charset="0"/>
                            </a:rPr>
                            <m:t>𝑋</m:t>
                          </m:r>
                          <m:r>
                            <a:rPr lang="ar-AE" i="1">
                              <a:solidFill>
                                <a:schemeClr val="bg2"/>
                              </a:solidFill>
                              <a:latin typeface="Cambria Math" panose="02040503050406030204" pitchFamily="18" charset="0"/>
                              <a:ea typeface="Cambria Math" panose="02040503050406030204" pitchFamily="18" charset="0"/>
                            </a:rPr>
                            <m:t>~</m:t>
                          </m:r>
                          <m:r>
                            <a:rPr lang="ar-AE" i="1">
                              <a:solidFill>
                                <a:schemeClr val="bg2"/>
                              </a:solidFill>
                              <a:latin typeface="Cambria Math" panose="02040503050406030204" pitchFamily="18" charset="0"/>
                              <a:ea typeface="Cambria Math" panose="02040503050406030204" pitchFamily="18" charset="0"/>
                            </a:rPr>
                            <m:t>𝑃</m:t>
                          </m:r>
                        </m:sub>
                      </m:sSub>
                      <m:func>
                        <m:funcPr>
                          <m:ctrlPr>
                            <a:rPr lang="ar-AE" i="1" smtClean="0">
                              <a:solidFill>
                                <a:schemeClr val="bg2"/>
                              </a:solidFill>
                              <a:latin typeface="Cambria Math" panose="02040503050406030204" pitchFamily="18" charset="0"/>
                              <a:ea typeface="Cambria Math" panose="02040503050406030204" pitchFamily="18" charset="0"/>
                            </a:rPr>
                          </m:ctrlPr>
                        </m:funcPr>
                        <m:fName>
                          <m:r>
                            <m:rPr>
                              <m:sty m:val="p"/>
                            </m:rPr>
                            <a:rPr lang="en-US" i="0" smtClean="0">
                              <a:solidFill>
                                <a:schemeClr val="bg2"/>
                              </a:solidFill>
                              <a:latin typeface="Cambria Math" panose="02040503050406030204" pitchFamily="18" charset="0"/>
                              <a:ea typeface="Cambria Math" panose="02040503050406030204" pitchFamily="18" charset="0"/>
                            </a:rPr>
                            <m:t>log</m:t>
                          </m:r>
                        </m:fName>
                        <m:e>
                          <m:r>
                            <a:rPr lang="ar-AE" b="0" i="1" smtClean="0">
                              <a:solidFill>
                                <a:schemeClr val="bg2"/>
                              </a:solidFill>
                              <a:latin typeface="Cambria Math" panose="02040503050406030204" pitchFamily="18" charset="0"/>
                              <a:ea typeface="Cambria Math" panose="02040503050406030204" pitchFamily="18" charset="0"/>
                            </a:rPr>
                            <m:t>𝑄</m:t>
                          </m:r>
                          <m:r>
                            <a:rPr lang="ar-AE" b="0" i="1" smtClean="0">
                              <a:solidFill>
                                <a:schemeClr val="bg2"/>
                              </a:solidFill>
                              <a:latin typeface="Cambria Math" panose="02040503050406030204" pitchFamily="18" charset="0"/>
                              <a:ea typeface="Cambria Math" panose="02040503050406030204" pitchFamily="18" charset="0"/>
                            </a:rPr>
                            <m:t>(</m:t>
                          </m:r>
                          <m:r>
                            <a:rPr lang="ar-AE" b="0" i="1" smtClean="0">
                              <a:solidFill>
                                <a:schemeClr val="bg2"/>
                              </a:solidFill>
                              <a:latin typeface="Cambria Math" panose="02040503050406030204" pitchFamily="18" charset="0"/>
                              <a:ea typeface="Cambria Math" panose="02040503050406030204" pitchFamily="18" charset="0"/>
                            </a:rPr>
                            <m:t>𝑥</m:t>
                          </m:r>
                          <m:r>
                            <a:rPr lang="ar-AE" b="0" i="1" smtClean="0">
                              <a:solidFill>
                                <a:schemeClr val="bg2"/>
                              </a:solidFill>
                              <a:latin typeface="Cambria Math" panose="02040503050406030204" pitchFamily="18" charset="0"/>
                              <a:ea typeface="Cambria Math" panose="02040503050406030204" pitchFamily="18" charset="0"/>
                            </a:rPr>
                            <m:t>)</m:t>
                          </m:r>
                        </m:e>
                      </m:func>
                    </m:oMath>
                  </m:oMathPara>
                </a14:m>
                <a:endParaRPr lang="ar-AE" sz="1400" b="0" i="0" u="none" strike="noStrike" cap="none" dirty="0">
                  <a:solidFill>
                    <a:schemeClr val="bg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US" sz="1400" b="0" i="0" u="none" strike="noStrike" cap="none" dirty="0">
                    <a:solidFill>
                      <a:schemeClr val="bg2"/>
                    </a:solidFill>
                    <a:latin typeface="Arial"/>
                    <a:ea typeface="Arial"/>
                    <a:cs typeface="Arial"/>
                    <a:sym typeface="Arial"/>
                  </a:rPr>
                  <a:t>How would you write cross-entropy in terms of KL-divergence</a:t>
                </a:r>
                <a:endParaRPr lang="en-US" dirty="0">
                  <a:solidFill>
                    <a:schemeClr val="bg2"/>
                  </a:solidFill>
                </a:endParaRPr>
              </a:p>
              <a:p>
                <a:pPr>
                  <a:lnSpc>
                    <a:spcPct val="115000"/>
                  </a:lnSpc>
                  <a:spcBef>
                    <a:spcPts val="1600"/>
                  </a:spcBef>
                  <a:buClr>
                    <a:schemeClr val="dk2"/>
                  </a:buClr>
                  <a:buSzPts val="1400"/>
                </a:pPr>
                <a:r>
                  <a:rPr lang="en-US" dirty="0">
                    <a:solidFill>
                      <a:schemeClr val="bg2"/>
                    </a:solidFill>
                  </a:rPr>
                  <a:t>&lt;text answer here&gt;</a:t>
                </a:r>
              </a:p>
              <a:p>
                <a:pPr lvl="0">
                  <a:lnSpc>
                    <a:spcPct val="115000"/>
                  </a:lnSpc>
                  <a:spcBef>
                    <a:spcPts val="1600"/>
                  </a:spcBef>
                  <a:buClr>
                    <a:schemeClr val="dk2"/>
                  </a:buClr>
                  <a:buSzPts val="1400"/>
                </a:pPr>
                <a:r>
                  <a:rPr lang="en-US" sz="1400" b="0" i="0" u="none" strike="noStrike" cap="none" dirty="0">
                    <a:solidFill>
                      <a:schemeClr val="bg2"/>
                    </a:solidFill>
                    <a:latin typeface="Arial"/>
                    <a:ea typeface="Arial"/>
                    <a:cs typeface="Arial"/>
                    <a:sym typeface="Arial"/>
                  </a:rPr>
                  <a:t>We can define cross-entropy as the following:</a:t>
                </a:r>
                <a:br>
                  <a:rPr lang="en-US" sz="1400" b="0" i="0" u="none" strike="noStrike" cap="none" dirty="0">
                    <a:solidFill>
                      <a:schemeClr val="bg2"/>
                    </a:solidFill>
                    <a:latin typeface="Arial"/>
                    <a:ea typeface="Arial"/>
                    <a:cs typeface="Arial"/>
                    <a:sym typeface="Arial"/>
                  </a:rPr>
                </a:br>
                <a14:m>
                  <m:oMathPara xmlns:m="http://schemas.openxmlformats.org/officeDocument/2006/math">
                    <m:oMathParaPr>
                      <m:jc m:val="centerGroup"/>
                    </m:oMathParaPr>
                    <m:oMath xmlns:m="http://schemas.openxmlformats.org/officeDocument/2006/math">
                      <m:r>
                        <m:rPr>
                          <m:sty m:val="p"/>
                        </m:rPr>
                        <a:rPr lang="en-US" b="0" i="0" smtClean="0">
                          <a:solidFill>
                            <a:schemeClr val="bg2"/>
                          </a:solidFill>
                          <a:latin typeface="Cambria Math" panose="02040503050406030204" pitchFamily="18" charset="0"/>
                        </a:rPr>
                        <m:t>H</m:t>
                      </m:r>
                      <m:d>
                        <m:dPr>
                          <m:ctrlPr>
                            <a:rPr lang="ar-AE" i="1">
                              <a:solidFill>
                                <a:schemeClr val="bg2"/>
                              </a:solidFill>
                              <a:latin typeface="Cambria Math" panose="02040503050406030204" pitchFamily="18" charset="0"/>
                            </a:rPr>
                          </m:ctrlPr>
                        </m:dPr>
                        <m:e>
                          <m:r>
                            <a:rPr lang="ar-AE" i="1">
                              <a:solidFill>
                                <a:schemeClr val="bg2"/>
                              </a:solidFill>
                              <a:latin typeface="Cambria Math" panose="02040503050406030204" pitchFamily="18" charset="0"/>
                            </a:rPr>
                            <m:t>𝑃</m:t>
                          </m:r>
                          <m:r>
                            <a:rPr lang="ar-AE" i="1">
                              <a:solidFill>
                                <a:schemeClr val="bg2"/>
                              </a:solidFill>
                              <a:latin typeface="Cambria Math" panose="02040503050406030204" pitchFamily="18" charset="0"/>
                            </a:rPr>
                            <m:t>,</m:t>
                          </m:r>
                          <m:r>
                            <a:rPr lang="ar-AE" i="1">
                              <a:solidFill>
                                <a:schemeClr val="bg2"/>
                              </a:solidFill>
                              <a:latin typeface="Cambria Math" panose="02040503050406030204" pitchFamily="18" charset="0"/>
                            </a:rPr>
                            <m:t>𝑄</m:t>
                          </m:r>
                        </m:e>
                      </m:d>
                      <m:r>
                        <a:rPr lang="en-US" b="0" i="1" smtClean="0">
                          <a:solidFill>
                            <a:schemeClr val="bg2"/>
                          </a:solidFill>
                          <a:latin typeface="Cambria Math" panose="02040503050406030204" pitchFamily="18" charset="0"/>
                        </a:rPr>
                        <m:t>=</m:t>
                      </m:r>
                      <m:sSub>
                        <m:sSubPr>
                          <m:ctrlPr>
                            <a:rPr lang="ar-AE" i="1">
                              <a:solidFill>
                                <a:schemeClr val="bg2"/>
                              </a:solidFill>
                              <a:latin typeface="Cambria Math" panose="02040503050406030204" pitchFamily="18" charset="0"/>
                            </a:rPr>
                          </m:ctrlPr>
                        </m:sSubPr>
                        <m:e>
                          <m:r>
                            <a:rPr lang="ar-AE" i="1">
                              <a:solidFill>
                                <a:schemeClr val="bg2"/>
                              </a:solidFill>
                              <a:latin typeface="Cambria Math" panose="02040503050406030204" pitchFamily="18" charset="0"/>
                            </a:rPr>
                            <m:t>𝐷</m:t>
                          </m:r>
                        </m:e>
                        <m:sub>
                          <m:r>
                            <a:rPr lang="ar-AE" i="1">
                              <a:solidFill>
                                <a:schemeClr val="bg2"/>
                              </a:solidFill>
                              <a:latin typeface="Cambria Math" panose="02040503050406030204" pitchFamily="18" charset="0"/>
                            </a:rPr>
                            <m:t>𝐾𝐿</m:t>
                          </m:r>
                        </m:sub>
                      </m:sSub>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𝑃</m:t>
                      </m:r>
                      <m:r>
                        <a:rPr lang="en-US" b="0" i="1" smtClean="0">
                          <a:solidFill>
                            <a:schemeClr val="bg2"/>
                          </a:solidFill>
                          <a:latin typeface="Cambria Math" panose="02040503050406030204" pitchFamily="18" charset="0"/>
                        </a:rPr>
                        <m:t>|</m:t>
                      </m:r>
                      <m:d>
                        <m:dPr>
                          <m:begChr m:val="|"/>
                          <m:ctrlPr>
                            <a:rPr lang="en-US" b="0" i="1" smtClean="0">
                              <a:solidFill>
                                <a:schemeClr val="bg2"/>
                              </a:solidFill>
                              <a:latin typeface="Cambria Math" panose="02040503050406030204" pitchFamily="18" charset="0"/>
                            </a:rPr>
                          </m:ctrlPr>
                        </m:dPr>
                        <m:e>
                          <m:r>
                            <a:rPr lang="en-US" b="0" i="1" smtClean="0">
                              <a:solidFill>
                                <a:schemeClr val="bg2"/>
                              </a:solidFill>
                              <a:latin typeface="Cambria Math" panose="02040503050406030204" pitchFamily="18" charset="0"/>
                            </a:rPr>
                            <m:t>𝑄</m:t>
                          </m:r>
                        </m:e>
                      </m:d>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𝐻</m:t>
                      </m:r>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𝑃</m:t>
                      </m:r>
                      <m:r>
                        <a:rPr lang="en-US" b="0" i="1" smtClean="0">
                          <a:solidFill>
                            <a:schemeClr val="bg2"/>
                          </a:solidFill>
                          <a:latin typeface="Cambria Math" panose="02040503050406030204" pitchFamily="18" charset="0"/>
                        </a:rPr>
                        <m:t>)</m:t>
                      </m:r>
                    </m:oMath>
                  </m:oMathPara>
                </a14:m>
                <a:endParaRPr lang="en-US" b="0" i="0" dirty="0">
                  <a:solidFill>
                    <a:schemeClr val="bg2"/>
                  </a:solidFill>
                  <a:latin typeface="Arial"/>
                </a:endParaRPr>
              </a:p>
              <a:p>
                <a:pPr lvl="0">
                  <a:lnSpc>
                    <a:spcPct val="115000"/>
                  </a:lnSpc>
                  <a:spcBef>
                    <a:spcPts val="1600"/>
                  </a:spcBef>
                  <a:buClr>
                    <a:schemeClr val="dk2"/>
                  </a:buClr>
                  <a:buSzPts val="1400"/>
                </a:pPr>
                <a:endParaRPr lang="en-US" sz="1400" b="0" i="0" u="none" strike="noStrike" cap="none" dirty="0">
                  <a:solidFill>
                    <a:schemeClr val="bg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400"/>
                  <a:buFont typeface="Arial"/>
                  <a:buNone/>
                </a:pPr>
                <a:endParaRPr lang="en-US" sz="1400" b="0" i="0" u="none" strike="noStrike" cap="none" dirty="0">
                  <a:solidFill>
                    <a:schemeClr val="bg2"/>
                  </a:solidFill>
                  <a:latin typeface="Arial"/>
                  <a:ea typeface="Arial"/>
                  <a:cs typeface="Arial"/>
                  <a:sym typeface="Arial"/>
                </a:endParaRPr>
              </a:p>
            </p:txBody>
          </p:sp>
        </mc:Choice>
        <mc:Fallback>
          <p:sp>
            <p:nvSpPr>
              <p:cNvPr id="2" name="Google Shape;67;p3">
                <a:extLst>
                  <a:ext uri="{FF2B5EF4-FFF2-40B4-BE49-F238E27FC236}">
                    <a16:creationId xmlns:a16="http://schemas.microsoft.com/office/drawing/2014/main" id="{9642CFEA-FC89-368D-9914-6498CE983F0B}"/>
                  </a:ext>
                </a:extLst>
              </p:cNvPr>
              <p:cNvSpPr txBox="1">
                <a:spLocks noRot="1" noChangeAspect="1" noMove="1" noResize="1" noEditPoints="1" noAdjustHandles="1" noChangeArrowheads="1" noChangeShapeType="1" noTextEdit="1"/>
              </p:cNvSpPr>
              <p:nvPr/>
            </p:nvSpPr>
            <p:spPr>
              <a:xfrm>
                <a:off x="4557609" y="506700"/>
                <a:ext cx="4518751" cy="4130100"/>
              </a:xfrm>
              <a:prstGeom prst="rect">
                <a:avLst/>
              </a:prstGeom>
              <a:blipFill>
                <a:blip r:embed="rId3"/>
                <a:stretch>
                  <a:fillRect l="-405"/>
                </a:stretch>
              </a:blipFill>
              <a:ln>
                <a:noFill/>
              </a:ln>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body" idx="1"/>
          </p:nvPr>
        </p:nvSpPr>
        <p:spPr>
          <a:xfrm>
            <a:off x="311700" y="438800"/>
            <a:ext cx="8353500" cy="413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Part 5: Training SimpleNet</a:t>
            </a:r>
            <a:endParaRPr b="1" dirty="0"/>
          </a:p>
          <a:p>
            <a:pPr marL="0" lvl="0" indent="0" algn="l" rtl="0">
              <a:lnSpc>
                <a:spcPct val="114999"/>
              </a:lnSpc>
              <a:spcBef>
                <a:spcPts val="1600"/>
              </a:spcBef>
              <a:spcAft>
                <a:spcPts val="0"/>
              </a:spcAft>
              <a:buSzPts val="1400"/>
              <a:buNone/>
            </a:pPr>
            <a:r>
              <a:rPr lang="en" dirty="0"/>
              <a:t>&lt;Loss plot here&gt;				    		&lt;Accuracy plot here&gt;</a:t>
            </a: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r>
              <a:rPr lang="en" dirty="0"/>
              <a:t>Final training accuracy value: 0.6965</a:t>
            </a:r>
            <a:endParaRPr dirty="0"/>
          </a:p>
          <a:p>
            <a:pPr marL="0" lvl="0" indent="0" algn="l" rtl="0">
              <a:lnSpc>
                <a:spcPct val="114999"/>
              </a:lnSpc>
              <a:spcBef>
                <a:spcPts val="1600"/>
              </a:spcBef>
              <a:spcAft>
                <a:spcPts val="0"/>
              </a:spcAft>
              <a:buSzPts val="1400"/>
              <a:buNone/>
            </a:pPr>
            <a:r>
              <a:rPr lang="en" dirty="0"/>
              <a:t>Final validation accuracy value: 0.5360</a:t>
            </a:r>
            <a:endParaRPr dirty="0"/>
          </a:p>
        </p:txBody>
      </p:sp>
      <p:pic>
        <p:nvPicPr>
          <p:cNvPr id="3" name="Picture 2">
            <a:extLst>
              <a:ext uri="{FF2B5EF4-FFF2-40B4-BE49-F238E27FC236}">
                <a16:creationId xmlns:a16="http://schemas.microsoft.com/office/drawing/2014/main" id="{E3266D7E-E307-5A5C-7AE5-956A37AC72BC}"/>
              </a:ext>
            </a:extLst>
          </p:cNvPr>
          <p:cNvPicPr>
            <a:picLocks noChangeAspect="1"/>
          </p:cNvPicPr>
          <p:nvPr/>
        </p:nvPicPr>
        <p:blipFill>
          <a:blip r:embed="rId3"/>
          <a:stretch>
            <a:fillRect/>
          </a:stretch>
        </p:blipFill>
        <p:spPr>
          <a:xfrm>
            <a:off x="257175" y="1216818"/>
            <a:ext cx="3657600" cy="2876550"/>
          </a:xfrm>
          <a:prstGeom prst="rect">
            <a:avLst/>
          </a:prstGeom>
        </p:spPr>
      </p:pic>
      <p:pic>
        <p:nvPicPr>
          <p:cNvPr id="5" name="Picture 4">
            <a:extLst>
              <a:ext uri="{FF2B5EF4-FFF2-40B4-BE49-F238E27FC236}">
                <a16:creationId xmlns:a16="http://schemas.microsoft.com/office/drawing/2014/main" id="{B6DA909C-8034-87D8-6449-C4C41EAFBAE2}"/>
              </a:ext>
            </a:extLst>
          </p:cNvPr>
          <p:cNvPicPr>
            <a:picLocks noChangeAspect="1"/>
          </p:cNvPicPr>
          <p:nvPr/>
        </p:nvPicPr>
        <p:blipFill>
          <a:blip r:embed="rId4"/>
          <a:stretch>
            <a:fillRect/>
          </a:stretch>
        </p:blipFill>
        <p:spPr>
          <a:xfrm>
            <a:off x="5229227" y="1314449"/>
            <a:ext cx="3710728" cy="29646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body" idx="1"/>
          </p:nvPr>
        </p:nvSpPr>
        <p:spPr>
          <a:xfrm>
            <a:off x="311700" y="438800"/>
            <a:ext cx="8353500" cy="45693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Part 6: </a:t>
            </a:r>
            <a:r>
              <a:rPr lang="en-US" b="1" dirty="0"/>
              <a:t>Simple Segmentation Net</a:t>
            </a:r>
            <a:endParaRPr b="1"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p:txBody>
      </p:sp>
      <p:graphicFrame>
        <p:nvGraphicFramePr>
          <p:cNvPr id="2" name="Google Shape;114;p27">
            <a:extLst>
              <a:ext uri="{FF2B5EF4-FFF2-40B4-BE49-F238E27FC236}">
                <a16:creationId xmlns:a16="http://schemas.microsoft.com/office/drawing/2014/main" id="{1714CE43-2692-CBA0-7CCD-0FDB6E5514B7}"/>
              </a:ext>
            </a:extLst>
          </p:cNvPr>
          <p:cNvGraphicFramePr/>
          <p:nvPr>
            <p:extLst>
              <p:ext uri="{D42A27DB-BD31-4B8C-83A1-F6EECF244321}">
                <p14:modId xmlns:p14="http://schemas.microsoft.com/office/powerpoint/2010/main" val="2737964479"/>
              </p:ext>
            </p:extLst>
          </p:nvPr>
        </p:nvGraphicFramePr>
        <p:xfrm>
          <a:off x="528937" y="895739"/>
          <a:ext cx="6130975" cy="3840120"/>
        </p:xfrm>
        <a:graphic>
          <a:graphicData uri="http://schemas.openxmlformats.org/drawingml/2006/table">
            <a:tbl>
              <a:tblPr>
                <a:noFill/>
              </a:tblPr>
              <a:tblGrid>
                <a:gridCol w="1238250">
                  <a:extLst>
                    <a:ext uri="{9D8B030D-6E8A-4147-A177-3AD203B41FA5}">
                      <a16:colId xmlns:a16="http://schemas.microsoft.com/office/drawing/2014/main" val="20000"/>
                    </a:ext>
                  </a:extLst>
                </a:gridCol>
                <a:gridCol w="1650600">
                  <a:extLst>
                    <a:ext uri="{9D8B030D-6E8A-4147-A177-3AD203B41FA5}">
                      <a16:colId xmlns:a16="http://schemas.microsoft.com/office/drawing/2014/main" val="20001"/>
                    </a:ext>
                  </a:extLst>
                </a:gridCol>
                <a:gridCol w="3242125">
                  <a:extLst>
                    <a:ext uri="{9D8B030D-6E8A-4147-A177-3AD203B41FA5}">
                      <a16:colId xmlns:a16="http://schemas.microsoft.com/office/drawing/2014/main" val="20002"/>
                    </a:ext>
                  </a:extLst>
                </a:gridCol>
              </a:tblGrid>
              <a:tr h="288851">
                <a:tc>
                  <a:txBody>
                    <a:bodyPr/>
                    <a:lstStyle/>
                    <a:p>
                      <a:pPr marL="0" lvl="0" indent="0" algn="l" rtl="0">
                        <a:spcBef>
                          <a:spcPts val="0"/>
                        </a:spcBef>
                        <a:spcAft>
                          <a:spcPts val="0"/>
                        </a:spcAft>
                        <a:buNone/>
                      </a:pPr>
                      <a:r>
                        <a:rPr lang="en" sz="900"/>
                        <a:t>Class Index</a:t>
                      </a:r>
                      <a:endParaRPr sz="900"/>
                    </a:p>
                  </a:txBody>
                  <a:tcPr marL="91425" marR="91425" marT="91425" marB="91425"/>
                </a:tc>
                <a:tc>
                  <a:txBody>
                    <a:bodyPr/>
                    <a:lstStyle/>
                    <a:p>
                      <a:pPr marL="0" lvl="0" indent="0" algn="l" rtl="0">
                        <a:spcBef>
                          <a:spcPts val="0"/>
                        </a:spcBef>
                        <a:spcAft>
                          <a:spcPts val="0"/>
                        </a:spcAft>
                        <a:buNone/>
                      </a:pPr>
                      <a:r>
                        <a:rPr lang="en" sz="900" dirty="0"/>
                        <a:t>Class name</a:t>
                      </a:r>
                      <a:endParaRPr sz="900" dirty="0"/>
                    </a:p>
                  </a:txBody>
                  <a:tcPr marL="91425" marR="91425" marT="91425" marB="91425"/>
                </a:tc>
                <a:tc>
                  <a:txBody>
                    <a:bodyPr/>
                    <a:lstStyle/>
                    <a:p>
                      <a:pPr marL="0" lvl="0" indent="0" algn="l" rtl="0">
                        <a:spcBef>
                          <a:spcPts val="0"/>
                        </a:spcBef>
                        <a:spcAft>
                          <a:spcPts val="0"/>
                        </a:spcAft>
                        <a:buNone/>
                      </a:pPr>
                      <a:r>
                        <a:rPr lang="en" sz="900"/>
                        <a:t>Simple Segmentation Net Class IoU</a:t>
                      </a:r>
                      <a:endParaRPr sz="900"/>
                    </a:p>
                  </a:txBody>
                  <a:tcPr marL="91425" marR="91425" marT="91425" marB="91425"/>
                </a:tc>
                <a:extLst>
                  <a:ext uri="{0D108BD9-81ED-4DB2-BD59-A6C34878D82A}">
                    <a16:rowId xmlns:a16="http://schemas.microsoft.com/office/drawing/2014/main" val="10000"/>
                  </a:ext>
                </a:extLst>
              </a:tr>
              <a:tr h="271800">
                <a:tc>
                  <a:txBody>
                    <a:bodyPr/>
                    <a:lstStyle/>
                    <a:p>
                      <a:pPr marL="0" lvl="0" indent="0" algn="l" rtl="0">
                        <a:spcBef>
                          <a:spcPts val="0"/>
                        </a:spcBef>
                        <a:spcAft>
                          <a:spcPts val="0"/>
                        </a:spcAft>
                        <a:buNone/>
                      </a:pPr>
                      <a:r>
                        <a:rPr lang="en" sz="900"/>
                        <a:t>0</a:t>
                      </a:r>
                      <a:endParaRPr sz="900"/>
                    </a:p>
                  </a:txBody>
                  <a:tcPr marL="91425" marR="91425" marT="91425" marB="91425"/>
                </a:tc>
                <a:tc>
                  <a:txBody>
                    <a:bodyPr/>
                    <a:lstStyle/>
                    <a:p>
                      <a:pPr marL="0" lvl="0" indent="0" algn="l" rtl="0">
                        <a:spcBef>
                          <a:spcPts val="0"/>
                        </a:spcBef>
                        <a:spcAft>
                          <a:spcPts val="0"/>
                        </a:spcAft>
                        <a:buNone/>
                      </a:pPr>
                      <a:r>
                        <a:rPr lang="en" sz="900"/>
                        <a:t>Building</a:t>
                      </a:r>
                      <a:endParaRPr sz="900"/>
                    </a:p>
                  </a:txBody>
                  <a:tcPr marL="91425" marR="91425" marT="91425" marB="91425"/>
                </a:tc>
                <a:tc>
                  <a:txBody>
                    <a:bodyPr/>
                    <a:lstStyle/>
                    <a:p>
                      <a:pPr marL="0" lvl="0" indent="0" algn="l" rtl="0">
                        <a:spcBef>
                          <a:spcPts val="0"/>
                        </a:spcBef>
                        <a:spcAft>
                          <a:spcPts val="0"/>
                        </a:spcAft>
                        <a:buNone/>
                      </a:pPr>
                      <a:r>
                        <a:rPr lang="en-US" sz="900" dirty="0"/>
                        <a:t>0.7874</a:t>
                      </a:r>
                      <a:endParaRPr sz="900" dirty="0"/>
                    </a:p>
                  </a:txBody>
                  <a:tcPr marL="91425" marR="91425" marT="91425" marB="91425"/>
                </a:tc>
                <a:extLst>
                  <a:ext uri="{0D108BD9-81ED-4DB2-BD59-A6C34878D82A}">
                    <a16:rowId xmlns:a16="http://schemas.microsoft.com/office/drawing/2014/main" val="10001"/>
                  </a:ext>
                </a:extLst>
              </a:tr>
              <a:tr h="271800">
                <a:tc>
                  <a:txBody>
                    <a:bodyPr/>
                    <a:lstStyle/>
                    <a:p>
                      <a:pPr marL="0" lvl="0" indent="0" algn="l" rtl="0">
                        <a:spcBef>
                          <a:spcPts val="0"/>
                        </a:spcBef>
                        <a:spcAft>
                          <a:spcPts val="0"/>
                        </a:spcAft>
                        <a:buNone/>
                      </a:pPr>
                      <a:r>
                        <a:rPr lang="en" sz="900"/>
                        <a:t>1</a:t>
                      </a:r>
                      <a:endParaRPr sz="900"/>
                    </a:p>
                  </a:txBody>
                  <a:tcPr marL="91425" marR="91425" marT="91425" marB="91425"/>
                </a:tc>
                <a:tc>
                  <a:txBody>
                    <a:bodyPr/>
                    <a:lstStyle/>
                    <a:p>
                      <a:pPr marL="0" lvl="0" indent="0" algn="l" rtl="0">
                        <a:spcBef>
                          <a:spcPts val="0"/>
                        </a:spcBef>
                        <a:spcAft>
                          <a:spcPts val="0"/>
                        </a:spcAft>
                        <a:buNone/>
                      </a:pPr>
                      <a:r>
                        <a:rPr lang="en" sz="900"/>
                        <a:t>Tree</a:t>
                      </a:r>
                      <a:endParaRPr sz="900"/>
                    </a:p>
                  </a:txBody>
                  <a:tcPr marL="91425" marR="91425" marT="91425" marB="91425"/>
                </a:tc>
                <a:tc>
                  <a:txBody>
                    <a:bodyPr/>
                    <a:lstStyle/>
                    <a:p>
                      <a:pPr marL="0" lvl="0" indent="0" algn="l" rtl="0">
                        <a:spcBef>
                          <a:spcPts val="0"/>
                        </a:spcBef>
                        <a:spcAft>
                          <a:spcPts val="0"/>
                        </a:spcAft>
                        <a:buNone/>
                      </a:pPr>
                      <a:r>
                        <a:rPr lang="en-US" sz="900" dirty="0"/>
                        <a:t>0.7555</a:t>
                      </a:r>
                      <a:endParaRPr sz="900" dirty="0"/>
                    </a:p>
                  </a:txBody>
                  <a:tcPr marL="91425" marR="91425" marT="91425" marB="91425"/>
                </a:tc>
                <a:extLst>
                  <a:ext uri="{0D108BD9-81ED-4DB2-BD59-A6C34878D82A}">
                    <a16:rowId xmlns:a16="http://schemas.microsoft.com/office/drawing/2014/main" val="10002"/>
                  </a:ext>
                </a:extLst>
              </a:tr>
              <a:tr h="271800">
                <a:tc>
                  <a:txBody>
                    <a:bodyPr/>
                    <a:lstStyle/>
                    <a:p>
                      <a:pPr marL="0" lvl="0" indent="0" algn="l" rtl="0">
                        <a:spcBef>
                          <a:spcPts val="0"/>
                        </a:spcBef>
                        <a:spcAft>
                          <a:spcPts val="0"/>
                        </a:spcAft>
                        <a:buNone/>
                      </a:pPr>
                      <a:r>
                        <a:rPr lang="en" sz="900"/>
                        <a:t>2</a:t>
                      </a:r>
                      <a:endParaRPr sz="900"/>
                    </a:p>
                  </a:txBody>
                  <a:tcPr marL="91425" marR="91425" marT="91425" marB="91425"/>
                </a:tc>
                <a:tc>
                  <a:txBody>
                    <a:bodyPr/>
                    <a:lstStyle/>
                    <a:p>
                      <a:pPr marL="0" lvl="0" indent="0" algn="l" rtl="0">
                        <a:spcBef>
                          <a:spcPts val="0"/>
                        </a:spcBef>
                        <a:spcAft>
                          <a:spcPts val="0"/>
                        </a:spcAft>
                        <a:buNone/>
                      </a:pPr>
                      <a:r>
                        <a:rPr lang="en" sz="900"/>
                        <a:t>Sky</a:t>
                      </a:r>
                      <a:endParaRPr sz="900"/>
                    </a:p>
                  </a:txBody>
                  <a:tcPr marL="91425" marR="91425" marT="91425" marB="91425"/>
                </a:tc>
                <a:tc>
                  <a:txBody>
                    <a:bodyPr/>
                    <a:lstStyle/>
                    <a:p>
                      <a:pPr marL="0" lvl="0" indent="0" algn="l" rtl="0">
                        <a:spcBef>
                          <a:spcPts val="0"/>
                        </a:spcBef>
                        <a:spcAft>
                          <a:spcPts val="0"/>
                        </a:spcAft>
                        <a:buNone/>
                      </a:pPr>
                      <a:r>
                        <a:rPr lang="en-US" sz="900" dirty="0"/>
                        <a:t>0.8431</a:t>
                      </a:r>
                      <a:endParaRPr sz="900" dirty="0"/>
                    </a:p>
                  </a:txBody>
                  <a:tcPr marL="91425" marR="91425" marT="91425" marB="91425"/>
                </a:tc>
                <a:extLst>
                  <a:ext uri="{0D108BD9-81ED-4DB2-BD59-A6C34878D82A}">
                    <a16:rowId xmlns:a16="http://schemas.microsoft.com/office/drawing/2014/main" val="10003"/>
                  </a:ext>
                </a:extLst>
              </a:tr>
              <a:tr h="271800">
                <a:tc>
                  <a:txBody>
                    <a:bodyPr/>
                    <a:lstStyle/>
                    <a:p>
                      <a:pPr marL="0" lvl="0" indent="0" algn="l" rtl="0">
                        <a:spcBef>
                          <a:spcPts val="0"/>
                        </a:spcBef>
                        <a:spcAft>
                          <a:spcPts val="0"/>
                        </a:spcAft>
                        <a:buNone/>
                      </a:pPr>
                      <a:r>
                        <a:rPr lang="en" sz="900"/>
                        <a:t>3</a:t>
                      </a:r>
                      <a:endParaRPr sz="900"/>
                    </a:p>
                  </a:txBody>
                  <a:tcPr marL="91425" marR="91425" marT="91425" marB="91425"/>
                </a:tc>
                <a:tc>
                  <a:txBody>
                    <a:bodyPr/>
                    <a:lstStyle/>
                    <a:p>
                      <a:pPr marL="0" lvl="0" indent="0" algn="l" rtl="0">
                        <a:spcBef>
                          <a:spcPts val="0"/>
                        </a:spcBef>
                        <a:spcAft>
                          <a:spcPts val="0"/>
                        </a:spcAft>
                        <a:buNone/>
                      </a:pPr>
                      <a:r>
                        <a:rPr lang="en" sz="900"/>
                        <a:t>Car</a:t>
                      </a:r>
                      <a:endParaRPr sz="900"/>
                    </a:p>
                  </a:txBody>
                  <a:tcPr marL="91425" marR="91425" marT="91425" marB="91425"/>
                </a:tc>
                <a:tc>
                  <a:txBody>
                    <a:bodyPr/>
                    <a:lstStyle/>
                    <a:p>
                      <a:pPr marL="0" lvl="0" indent="0" algn="l" rtl="0">
                        <a:spcBef>
                          <a:spcPts val="0"/>
                        </a:spcBef>
                        <a:spcAft>
                          <a:spcPts val="0"/>
                        </a:spcAft>
                        <a:buNone/>
                      </a:pPr>
                      <a:r>
                        <a:rPr lang="en-US" sz="900" dirty="0"/>
                        <a:t>0. 5973</a:t>
                      </a:r>
                      <a:endParaRPr sz="900" dirty="0"/>
                    </a:p>
                  </a:txBody>
                  <a:tcPr marL="91425" marR="91425" marT="91425" marB="91425"/>
                </a:tc>
                <a:extLst>
                  <a:ext uri="{0D108BD9-81ED-4DB2-BD59-A6C34878D82A}">
                    <a16:rowId xmlns:a16="http://schemas.microsoft.com/office/drawing/2014/main" val="10004"/>
                  </a:ext>
                </a:extLst>
              </a:tr>
              <a:tr h="271800">
                <a:tc>
                  <a:txBody>
                    <a:bodyPr/>
                    <a:lstStyle/>
                    <a:p>
                      <a:pPr marL="0" lvl="0" indent="0" algn="l" rtl="0">
                        <a:spcBef>
                          <a:spcPts val="0"/>
                        </a:spcBef>
                        <a:spcAft>
                          <a:spcPts val="0"/>
                        </a:spcAft>
                        <a:buNone/>
                      </a:pPr>
                      <a:r>
                        <a:rPr lang="en" sz="900"/>
                        <a:t>4</a:t>
                      </a:r>
                      <a:endParaRPr sz="900"/>
                    </a:p>
                  </a:txBody>
                  <a:tcPr marL="91425" marR="91425" marT="91425" marB="91425"/>
                </a:tc>
                <a:tc>
                  <a:txBody>
                    <a:bodyPr/>
                    <a:lstStyle/>
                    <a:p>
                      <a:pPr marL="0" lvl="0" indent="0" algn="l" rtl="0">
                        <a:spcBef>
                          <a:spcPts val="0"/>
                        </a:spcBef>
                        <a:spcAft>
                          <a:spcPts val="0"/>
                        </a:spcAft>
                        <a:buNone/>
                      </a:pPr>
                      <a:r>
                        <a:rPr lang="en" sz="900"/>
                        <a:t>SignSymbol</a:t>
                      </a:r>
                      <a:endParaRPr sz="900"/>
                    </a:p>
                  </a:txBody>
                  <a:tcPr marL="91425" marR="91425" marT="91425" marB="91425"/>
                </a:tc>
                <a:tc>
                  <a:txBody>
                    <a:bodyPr/>
                    <a:lstStyle/>
                    <a:p>
                      <a:pPr marL="0" lvl="0" indent="0" algn="l" rtl="0">
                        <a:spcBef>
                          <a:spcPts val="0"/>
                        </a:spcBef>
                        <a:spcAft>
                          <a:spcPts val="0"/>
                        </a:spcAft>
                        <a:buNone/>
                      </a:pPr>
                      <a:r>
                        <a:rPr lang="en-US" sz="900" dirty="0"/>
                        <a:t>0. 0000</a:t>
                      </a:r>
                      <a:endParaRPr sz="900" dirty="0"/>
                    </a:p>
                  </a:txBody>
                  <a:tcPr marL="91425" marR="91425" marT="91425" marB="91425"/>
                </a:tc>
                <a:extLst>
                  <a:ext uri="{0D108BD9-81ED-4DB2-BD59-A6C34878D82A}">
                    <a16:rowId xmlns:a16="http://schemas.microsoft.com/office/drawing/2014/main" val="10005"/>
                  </a:ext>
                </a:extLst>
              </a:tr>
              <a:tr h="271800">
                <a:tc>
                  <a:txBody>
                    <a:bodyPr/>
                    <a:lstStyle/>
                    <a:p>
                      <a:pPr marL="0" lvl="0" indent="0" algn="l" rtl="0">
                        <a:spcBef>
                          <a:spcPts val="0"/>
                        </a:spcBef>
                        <a:spcAft>
                          <a:spcPts val="0"/>
                        </a:spcAft>
                        <a:buNone/>
                      </a:pPr>
                      <a:r>
                        <a:rPr lang="en" sz="900"/>
                        <a:t>5</a:t>
                      </a:r>
                      <a:endParaRPr sz="900"/>
                    </a:p>
                  </a:txBody>
                  <a:tcPr marL="91425" marR="91425" marT="91425" marB="91425"/>
                </a:tc>
                <a:tc>
                  <a:txBody>
                    <a:bodyPr/>
                    <a:lstStyle/>
                    <a:p>
                      <a:pPr marL="0" lvl="0" indent="0" algn="l" rtl="0">
                        <a:spcBef>
                          <a:spcPts val="0"/>
                        </a:spcBef>
                        <a:spcAft>
                          <a:spcPts val="0"/>
                        </a:spcAft>
                        <a:buNone/>
                      </a:pPr>
                      <a:r>
                        <a:rPr lang="en" sz="900"/>
                        <a:t>Road</a:t>
                      </a:r>
                      <a:endParaRPr sz="900"/>
                    </a:p>
                  </a:txBody>
                  <a:tcPr marL="91425" marR="91425" marT="91425" marB="91425"/>
                </a:tc>
                <a:tc>
                  <a:txBody>
                    <a:bodyPr/>
                    <a:lstStyle/>
                    <a:p>
                      <a:pPr marL="0" lvl="0" indent="0" algn="l" rtl="0">
                        <a:spcBef>
                          <a:spcPts val="0"/>
                        </a:spcBef>
                        <a:spcAft>
                          <a:spcPts val="0"/>
                        </a:spcAft>
                        <a:buNone/>
                      </a:pPr>
                      <a:r>
                        <a:rPr lang="en-US" sz="900" dirty="0"/>
                        <a:t>0. 8502</a:t>
                      </a:r>
                      <a:endParaRPr sz="900" dirty="0"/>
                    </a:p>
                  </a:txBody>
                  <a:tcPr marL="91425" marR="91425" marT="91425" marB="91425"/>
                </a:tc>
                <a:extLst>
                  <a:ext uri="{0D108BD9-81ED-4DB2-BD59-A6C34878D82A}">
                    <a16:rowId xmlns:a16="http://schemas.microsoft.com/office/drawing/2014/main" val="10006"/>
                  </a:ext>
                </a:extLst>
              </a:tr>
              <a:tr h="271800">
                <a:tc>
                  <a:txBody>
                    <a:bodyPr/>
                    <a:lstStyle/>
                    <a:p>
                      <a:pPr marL="0" lvl="0" indent="0" algn="l" rtl="0">
                        <a:spcBef>
                          <a:spcPts val="0"/>
                        </a:spcBef>
                        <a:spcAft>
                          <a:spcPts val="0"/>
                        </a:spcAft>
                        <a:buNone/>
                      </a:pPr>
                      <a:r>
                        <a:rPr lang="en" sz="900"/>
                        <a:t>6</a:t>
                      </a:r>
                      <a:endParaRPr sz="900"/>
                    </a:p>
                  </a:txBody>
                  <a:tcPr marL="91425" marR="91425" marT="91425" marB="91425"/>
                </a:tc>
                <a:tc>
                  <a:txBody>
                    <a:bodyPr/>
                    <a:lstStyle/>
                    <a:p>
                      <a:pPr marL="0" lvl="0" indent="0" algn="l" rtl="0">
                        <a:spcBef>
                          <a:spcPts val="0"/>
                        </a:spcBef>
                        <a:spcAft>
                          <a:spcPts val="0"/>
                        </a:spcAft>
                        <a:buNone/>
                      </a:pPr>
                      <a:r>
                        <a:rPr lang="en" sz="900"/>
                        <a:t>Pedestrian</a:t>
                      </a:r>
                      <a:endParaRPr sz="900"/>
                    </a:p>
                  </a:txBody>
                  <a:tcPr marL="91425" marR="91425" marT="91425" marB="91425"/>
                </a:tc>
                <a:tc>
                  <a:txBody>
                    <a:bodyPr/>
                    <a:lstStyle/>
                    <a:p>
                      <a:pPr marL="0" lvl="0" indent="0" algn="l" rtl="0">
                        <a:spcBef>
                          <a:spcPts val="0"/>
                        </a:spcBef>
                        <a:spcAft>
                          <a:spcPts val="0"/>
                        </a:spcAft>
                        <a:buNone/>
                      </a:pPr>
                      <a:r>
                        <a:rPr lang="en-US" sz="900" dirty="0"/>
                        <a:t>0. 0000</a:t>
                      </a:r>
                      <a:endParaRPr sz="900" dirty="0"/>
                    </a:p>
                  </a:txBody>
                  <a:tcPr marL="91425" marR="91425" marT="91425" marB="91425"/>
                </a:tc>
                <a:extLst>
                  <a:ext uri="{0D108BD9-81ED-4DB2-BD59-A6C34878D82A}">
                    <a16:rowId xmlns:a16="http://schemas.microsoft.com/office/drawing/2014/main" val="10007"/>
                  </a:ext>
                </a:extLst>
              </a:tr>
              <a:tr h="271800">
                <a:tc>
                  <a:txBody>
                    <a:bodyPr/>
                    <a:lstStyle/>
                    <a:p>
                      <a:pPr marL="0" lvl="0" indent="0" algn="l" rtl="0">
                        <a:spcBef>
                          <a:spcPts val="0"/>
                        </a:spcBef>
                        <a:spcAft>
                          <a:spcPts val="0"/>
                        </a:spcAft>
                        <a:buNone/>
                      </a:pPr>
                      <a:r>
                        <a:rPr lang="en" sz="900"/>
                        <a:t>7</a:t>
                      </a:r>
                      <a:endParaRPr sz="900"/>
                    </a:p>
                  </a:txBody>
                  <a:tcPr marL="91425" marR="91425" marT="91425" marB="91425"/>
                </a:tc>
                <a:tc>
                  <a:txBody>
                    <a:bodyPr/>
                    <a:lstStyle/>
                    <a:p>
                      <a:pPr marL="0" lvl="0" indent="0" algn="l" rtl="0">
                        <a:spcBef>
                          <a:spcPts val="0"/>
                        </a:spcBef>
                        <a:spcAft>
                          <a:spcPts val="0"/>
                        </a:spcAft>
                        <a:buNone/>
                      </a:pPr>
                      <a:r>
                        <a:rPr lang="en" sz="900"/>
                        <a:t>Fence</a:t>
                      </a:r>
                      <a:endParaRPr sz="900"/>
                    </a:p>
                  </a:txBody>
                  <a:tcPr marL="91425" marR="91425" marT="91425" marB="91425"/>
                </a:tc>
                <a:tc>
                  <a:txBody>
                    <a:bodyPr/>
                    <a:lstStyle/>
                    <a:p>
                      <a:pPr marL="0" lvl="0" indent="0" algn="l" rtl="0">
                        <a:spcBef>
                          <a:spcPts val="0"/>
                        </a:spcBef>
                        <a:spcAft>
                          <a:spcPts val="0"/>
                        </a:spcAft>
                        <a:buNone/>
                      </a:pPr>
                      <a:r>
                        <a:rPr lang="en-US" sz="900" dirty="0"/>
                        <a:t>0. 0000</a:t>
                      </a:r>
                      <a:endParaRPr sz="900" dirty="0"/>
                    </a:p>
                  </a:txBody>
                  <a:tcPr marL="91425" marR="91425" marT="91425" marB="91425"/>
                </a:tc>
                <a:extLst>
                  <a:ext uri="{0D108BD9-81ED-4DB2-BD59-A6C34878D82A}">
                    <a16:rowId xmlns:a16="http://schemas.microsoft.com/office/drawing/2014/main" val="10008"/>
                  </a:ext>
                </a:extLst>
              </a:tr>
              <a:tr h="271800">
                <a:tc>
                  <a:txBody>
                    <a:bodyPr/>
                    <a:lstStyle/>
                    <a:p>
                      <a:pPr marL="0" lvl="0" indent="0" algn="l" rtl="0">
                        <a:spcBef>
                          <a:spcPts val="0"/>
                        </a:spcBef>
                        <a:spcAft>
                          <a:spcPts val="0"/>
                        </a:spcAft>
                        <a:buNone/>
                      </a:pPr>
                      <a:r>
                        <a:rPr lang="en" sz="900"/>
                        <a:t>8</a:t>
                      </a:r>
                      <a:endParaRPr sz="900"/>
                    </a:p>
                  </a:txBody>
                  <a:tcPr marL="91425" marR="91425" marT="91425" marB="91425"/>
                </a:tc>
                <a:tc>
                  <a:txBody>
                    <a:bodyPr/>
                    <a:lstStyle/>
                    <a:p>
                      <a:pPr marL="0" lvl="0" indent="0" algn="l" rtl="0">
                        <a:spcBef>
                          <a:spcPts val="0"/>
                        </a:spcBef>
                        <a:spcAft>
                          <a:spcPts val="0"/>
                        </a:spcAft>
                        <a:buNone/>
                      </a:pPr>
                      <a:r>
                        <a:rPr lang="en" sz="900"/>
                        <a:t>Column_Pole</a:t>
                      </a:r>
                      <a:endParaRPr sz="900"/>
                    </a:p>
                  </a:txBody>
                  <a:tcPr marL="91425" marR="91425" marT="91425" marB="91425"/>
                </a:tc>
                <a:tc>
                  <a:txBody>
                    <a:bodyPr/>
                    <a:lstStyle/>
                    <a:p>
                      <a:pPr marL="0" lvl="0" indent="0" algn="l" rtl="0">
                        <a:spcBef>
                          <a:spcPts val="0"/>
                        </a:spcBef>
                        <a:spcAft>
                          <a:spcPts val="0"/>
                        </a:spcAft>
                        <a:buNone/>
                      </a:pPr>
                      <a:r>
                        <a:rPr lang="en-US" sz="900" dirty="0"/>
                        <a:t>0. 0000</a:t>
                      </a:r>
                      <a:endParaRPr sz="900" dirty="0"/>
                    </a:p>
                  </a:txBody>
                  <a:tcPr marL="91425" marR="91425" marT="91425" marB="91425"/>
                </a:tc>
                <a:extLst>
                  <a:ext uri="{0D108BD9-81ED-4DB2-BD59-A6C34878D82A}">
                    <a16:rowId xmlns:a16="http://schemas.microsoft.com/office/drawing/2014/main" val="10009"/>
                  </a:ext>
                </a:extLst>
              </a:tr>
              <a:tr h="271800">
                <a:tc>
                  <a:txBody>
                    <a:bodyPr/>
                    <a:lstStyle/>
                    <a:p>
                      <a:pPr marL="0" lvl="0" indent="0" algn="l" rtl="0">
                        <a:spcBef>
                          <a:spcPts val="0"/>
                        </a:spcBef>
                        <a:spcAft>
                          <a:spcPts val="0"/>
                        </a:spcAft>
                        <a:buNone/>
                      </a:pPr>
                      <a:r>
                        <a:rPr lang="en" sz="900"/>
                        <a:t>9</a:t>
                      </a:r>
                      <a:endParaRPr sz="900"/>
                    </a:p>
                  </a:txBody>
                  <a:tcPr marL="91425" marR="91425" marT="91425" marB="91425"/>
                </a:tc>
                <a:tc>
                  <a:txBody>
                    <a:bodyPr/>
                    <a:lstStyle/>
                    <a:p>
                      <a:pPr marL="0" lvl="0" indent="0" algn="l" rtl="0">
                        <a:spcBef>
                          <a:spcPts val="0"/>
                        </a:spcBef>
                        <a:spcAft>
                          <a:spcPts val="0"/>
                        </a:spcAft>
                        <a:buNone/>
                      </a:pPr>
                      <a:r>
                        <a:rPr lang="en" sz="900"/>
                        <a:t>Sidewalk</a:t>
                      </a:r>
                      <a:endParaRPr sz="900"/>
                    </a:p>
                  </a:txBody>
                  <a:tcPr marL="91425" marR="91425" marT="91425" marB="91425"/>
                </a:tc>
                <a:tc>
                  <a:txBody>
                    <a:bodyPr/>
                    <a:lstStyle/>
                    <a:p>
                      <a:pPr marL="0" lvl="0" indent="0" algn="l" rtl="0">
                        <a:spcBef>
                          <a:spcPts val="0"/>
                        </a:spcBef>
                        <a:spcAft>
                          <a:spcPts val="0"/>
                        </a:spcAft>
                        <a:buNone/>
                      </a:pPr>
                      <a:r>
                        <a:rPr lang="en-US" sz="900" dirty="0"/>
                        <a:t>0. 5608</a:t>
                      </a:r>
                      <a:endParaRPr sz="900" dirty="0"/>
                    </a:p>
                  </a:txBody>
                  <a:tcPr marL="91425" marR="91425" marT="91425" marB="91425"/>
                </a:tc>
                <a:extLst>
                  <a:ext uri="{0D108BD9-81ED-4DB2-BD59-A6C34878D82A}">
                    <a16:rowId xmlns:a16="http://schemas.microsoft.com/office/drawing/2014/main" val="10010"/>
                  </a:ext>
                </a:extLst>
              </a:tr>
              <a:tr h="271800">
                <a:tc>
                  <a:txBody>
                    <a:bodyPr/>
                    <a:lstStyle/>
                    <a:p>
                      <a:pPr marL="0" lvl="0" indent="0" algn="l" rtl="0">
                        <a:spcBef>
                          <a:spcPts val="0"/>
                        </a:spcBef>
                        <a:spcAft>
                          <a:spcPts val="0"/>
                        </a:spcAft>
                        <a:buNone/>
                      </a:pPr>
                      <a:r>
                        <a:rPr lang="en" sz="900"/>
                        <a:t>10</a:t>
                      </a:r>
                      <a:endParaRPr sz="900"/>
                    </a:p>
                  </a:txBody>
                  <a:tcPr marL="91425" marR="91425" marT="91425" marB="91425"/>
                </a:tc>
                <a:tc>
                  <a:txBody>
                    <a:bodyPr/>
                    <a:lstStyle/>
                    <a:p>
                      <a:pPr marL="0" lvl="0" indent="0" algn="l" rtl="0">
                        <a:spcBef>
                          <a:spcPts val="0"/>
                        </a:spcBef>
                        <a:spcAft>
                          <a:spcPts val="0"/>
                        </a:spcAft>
                        <a:buNone/>
                      </a:pPr>
                      <a:r>
                        <a:rPr lang="en" sz="900"/>
                        <a:t>Bicyclist</a:t>
                      </a:r>
                      <a:endParaRPr sz="900"/>
                    </a:p>
                  </a:txBody>
                  <a:tcPr marL="91425" marR="91425" marT="91425" marB="91425"/>
                </a:tc>
                <a:tc>
                  <a:txBody>
                    <a:bodyPr/>
                    <a:lstStyle/>
                    <a:p>
                      <a:pPr marL="0" lvl="0" indent="0" algn="l" rtl="0">
                        <a:spcBef>
                          <a:spcPts val="0"/>
                        </a:spcBef>
                        <a:spcAft>
                          <a:spcPts val="0"/>
                        </a:spcAft>
                        <a:buNone/>
                      </a:pPr>
                      <a:r>
                        <a:rPr lang="en-US" sz="900" dirty="0"/>
                        <a:t>0. 0000</a:t>
                      </a:r>
                      <a:endParaRPr sz="900" dirty="0"/>
                    </a:p>
                  </a:txBody>
                  <a:tcPr marL="91425" marR="91425" marT="91425" marB="91425"/>
                </a:tc>
                <a:extLst>
                  <a:ext uri="{0D108BD9-81ED-4DB2-BD59-A6C34878D82A}">
                    <a16:rowId xmlns:a16="http://schemas.microsoft.com/office/drawing/2014/main" val="10011"/>
                  </a:ext>
                </a:extLst>
              </a:tr>
            </a:tbl>
          </a:graphicData>
        </a:graphic>
      </p:graphicFrame>
      <p:sp>
        <p:nvSpPr>
          <p:cNvPr id="3" name="TextBox 2">
            <a:extLst>
              <a:ext uri="{FF2B5EF4-FFF2-40B4-BE49-F238E27FC236}">
                <a16:creationId xmlns:a16="http://schemas.microsoft.com/office/drawing/2014/main" id="{BAB00CF3-3C61-14F5-769F-6BC9FC87B460}"/>
              </a:ext>
            </a:extLst>
          </p:cNvPr>
          <p:cNvSpPr txBox="1"/>
          <p:nvPr/>
        </p:nvSpPr>
        <p:spPr>
          <a:xfrm>
            <a:off x="6659912" y="1082352"/>
            <a:ext cx="2409444" cy="954107"/>
          </a:xfrm>
          <a:prstGeom prst="rect">
            <a:avLst/>
          </a:prstGeom>
          <a:noFill/>
        </p:spPr>
        <p:txBody>
          <a:bodyPr wrap="square" rtlCol="0">
            <a:spAutoFit/>
          </a:bodyPr>
          <a:lstStyle/>
          <a:p>
            <a:endParaRPr lang="en-US" b="1" dirty="0"/>
          </a:p>
          <a:p>
            <a:endParaRPr lang="en-US" b="1" dirty="0"/>
          </a:p>
          <a:p>
            <a:endParaRPr lang="en-US" b="1" dirty="0"/>
          </a:p>
          <a:p>
            <a:r>
              <a:rPr lang="en-US" b="1" dirty="0"/>
              <a:t>Validation </a:t>
            </a:r>
            <a:r>
              <a:rPr lang="en-US" b="1" dirty="0" err="1"/>
              <a:t>mIoU</a:t>
            </a:r>
            <a:r>
              <a:rPr lang="en-US" b="1" dirty="0"/>
              <a:t>: 0.4013</a:t>
            </a:r>
            <a:endParaRPr lang="en-US" dirty="0"/>
          </a:p>
        </p:txBody>
      </p:sp>
      <p:sp>
        <p:nvSpPr>
          <p:cNvPr id="4" name="TextBox 3">
            <a:extLst>
              <a:ext uri="{FF2B5EF4-FFF2-40B4-BE49-F238E27FC236}">
                <a16:creationId xmlns:a16="http://schemas.microsoft.com/office/drawing/2014/main" id="{1F686987-0A09-E080-7AE2-C42CE590362A}"/>
              </a:ext>
            </a:extLst>
          </p:cNvPr>
          <p:cNvSpPr txBox="1"/>
          <p:nvPr/>
        </p:nvSpPr>
        <p:spPr>
          <a:xfrm>
            <a:off x="528937" y="4773183"/>
            <a:ext cx="2587487" cy="307777"/>
          </a:xfrm>
          <a:prstGeom prst="rect">
            <a:avLst/>
          </a:prstGeom>
          <a:noFill/>
        </p:spPr>
        <p:txBody>
          <a:bodyPr wrap="square" rtlCol="0">
            <a:spAutoFit/>
          </a:bodyPr>
          <a:lstStyle/>
          <a:p>
            <a:r>
              <a:rPr lang="en-US" dirty="0"/>
              <a:t>Number of Epochs: 5</a:t>
            </a:r>
          </a:p>
        </p:txBody>
      </p:sp>
    </p:spTree>
    <p:extLst>
      <p:ext uri="{BB962C8B-B14F-4D97-AF65-F5344CB8AC3E}">
        <p14:creationId xmlns:p14="http://schemas.microsoft.com/office/powerpoint/2010/main" val="1948771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10" name="Google Shape;72;p4">
            <a:extLst>
              <a:ext uri="{FF2B5EF4-FFF2-40B4-BE49-F238E27FC236}">
                <a16:creationId xmlns:a16="http://schemas.microsoft.com/office/drawing/2014/main" id="{22C45100-9908-4989-D56E-9B2D54CD61CA}"/>
              </a:ext>
            </a:extLst>
          </p:cNvPr>
          <p:cNvSpPr txBox="1">
            <a:spLocks noGrp="1"/>
          </p:cNvSpPr>
          <p:nvPr>
            <p:ph type="body" idx="1"/>
          </p:nvPr>
        </p:nvSpPr>
        <p:spPr>
          <a:xfrm>
            <a:off x="311700" y="438800"/>
            <a:ext cx="8353500" cy="45693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Part 6: </a:t>
            </a:r>
            <a:r>
              <a:rPr lang="en-US" b="1" dirty="0"/>
              <a:t>Simple Segmentation Net</a:t>
            </a:r>
            <a:endParaRPr b="1" dirty="0"/>
          </a:p>
          <a:p>
            <a:pPr marL="0" lvl="0" indent="0" algn="l" rtl="0">
              <a:lnSpc>
                <a:spcPct val="115000"/>
              </a:lnSpc>
              <a:spcBef>
                <a:spcPts val="1600"/>
              </a:spcBef>
              <a:spcAft>
                <a:spcPts val="0"/>
              </a:spcAft>
              <a:buSzPts val="1400"/>
              <a:buNone/>
            </a:pPr>
            <a:endParaRPr b="1"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p:txBody>
      </p:sp>
      <p:sp>
        <p:nvSpPr>
          <p:cNvPr id="11" name="TextBox 10">
            <a:extLst>
              <a:ext uri="{FF2B5EF4-FFF2-40B4-BE49-F238E27FC236}">
                <a16:creationId xmlns:a16="http://schemas.microsoft.com/office/drawing/2014/main" id="{5C639927-3F47-5FDA-80B9-2A31C027F03B}"/>
              </a:ext>
            </a:extLst>
          </p:cNvPr>
          <p:cNvSpPr txBox="1"/>
          <p:nvPr/>
        </p:nvSpPr>
        <p:spPr>
          <a:xfrm>
            <a:off x="391886" y="1007706"/>
            <a:ext cx="8472196" cy="566758"/>
          </a:xfrm>
          <a:prstGeom prst="rect">
            <a:avLst/>
          </a:prstGeom>
          <a:noFill/>
        </p:spPr>
        <p:txBody>
          <a:bodyPr wrap="square" rtlCol="0">
            <a:spAutoFit/>
          </a:bodyPr>
          <a:lstStyle/>
          <a:p>
            <a:pPr>
              <a:lnSpc>
                <a:spcPct val="115000"/>
              </a:lnSpc>
              <a:buClr>
                <a:schemeClr val="dk2"/>
              </a:buClr>
              <a:buSzPts val="1400"/>
            </a:pPr>
            <a:r>
              <a:rPr lang="en-US" dirty="0">
                <a:solidFill>
                  <a:schemeClr val="dk2"/>
                </a:solidFill>
              </a:rPr>
              <a:t>Paste a figure of the generated semantic segmentation from </a:t>
            </a:r>
            <a:r>
              <a:rPr lang="en-US" dirty="0" err="1">
                <a:solidFill>
                  <a:schemeClr val="dk2"/>
                </a:solidFill>
              </a:rPr>
              <a:t>Colab</a:t>
            </a:r>
            <a:r>
              <a:rPr lang="en-US" dirty="0">
                <a:solidFill>
                  <a:schemeClr val="dk2"/>
                </a:solidFill>
              </a:rPr>
              <a:t>. It should be a 2x3 grid, with ground truth on the top row, and your predictions on the bottom row.</a:t>
            </a:r>
          </a:p>
        </p:txBody>
      </p:sp>
      <p:pic>
        <p:nvPicPr>
          <p:cNvPr id="1026" name="Picture 2">
            <a:extLst>
              <a:ext uri="{FF2B5EF4-FFF2-40B4-BE49-F238E27FC236}">
                <a16:creationId xmlns:a16="http://schemas.microsoft.com/office/drawing/2014/main" id="{104CAA7E-CE51-F67E-512F-13B0678AF2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784" y="1886424"/>
            <a:ext cx="5736431" cy="2953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390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10" name="Google Shape;72;p4">
            <a:extLst>
              <a:ext uri="{FF2B5EF4-FFF2-40B4-BE49-F238E27FC236}">
                <a16:creationId xmlns:a16="http://schemas.microsoft.com/office/drawing/2014/main" id="{22C45100-9908-4989-D56E-9B2D54CD61CA}"/>
              </a:ext>
            </a:extLst>
          </p:cNvPr>
          <p:cNvSpPr txBox="1">
            <a:spLocks noGrp="1"/>
          </p:cNvSpPr>
          <p:nvPr>
            <p:ph type="body" idx="1"/>
          </p:nvPr>
        </p:nvSpPr>
        <p:spPr>
          <a:xfrm>
            <a:off x="311700" y="438800"/>
            <a:ext cx="8353500" cy="45693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Part 6: </a:t>
            </a:r>
            <a:r>
              <a:rPr lang="en-US" b="1" dirty="0"/>
              <a:t>Simple Segmentation Net</a:t>
            </a:r>
            <a:endParaRPr dirty="0"/>
          </a:p>
          <a:p>
            <a:pPr marL="0" lvl="0" indent="0" algn="l" rtl="0">
              <a:lnSpc>
                <a:spcPct val="115000"/>
              </a:lnSpc>
              <a:spcBef>
                <a:spcPts val="1600"/>
              </a:spcBef>
              <a:spcAft>
                <a:spcPts val="0"/>
              </a:spcAft>
              <a:buSzPts val="1400"/>
              <a:buNone/>
            </a:pPr>
            <a:endParaRPr b="1"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p:txBody>
      </p:sp>
      <p:sp>
        <p:nvSpPr>
          <p:cNvPr id="3" name="TextBox 2">
            <a:extLst>
              <a:ext uri="{FF2B5EF4-FFF2-40B4-BE49-F238E27FC236}">
                <a16:creationId xmlns:a16="http://schemas.microsoft.com/office/drawing/2014/main" id="{A27DE35C-CC91-1A2E-C87C-AD2152E29E28}"/>
              </a:ext>
            </a:extLst>
          </p:cNvPr>
          <p:cNvSpPr txBox="1"/>
          <p:nvPr/>
        </p:nvSpPr>
        <p:spPr>
          <a:xfrm>
            <a:off x="391886" y="1007706"/>
            <a:ext cx="8472196" cy="738664"/>
          </a:xfrm>
          <a:prstGeom prst="rect">
            <a:avLst/>
          </a:prstGeom>
          <a:noFill/>
        </p:spPr>
        <p:txBody>
          <a:bodyPr wrap="square" rtlCol="0">
            <a:spAutoFit/>
          </a:bodyPr>
          <a:lstStyle/>
          <a:p>
            <a:r>
              <a:rPr lang="en-US" dirty="0">
                <a:solidFill>
                  <a:schemeClr val="dk2"/>
                </a:solidFill>
              </a:rPr>
              <a:t>Which classes have the lowest </a:t>
            </a:r>
            <a:r>
              <a:rPr lang="en-US" dirty="0" err="1">
                <a:solidFill>
                  <a:schemeClr val="dk2"/>
                </a:solidFill>
              </a:rPr>
              <a:t>mIoU</a:t>
            </a:r>
            <a:r>
              <a:rPr lang="en-US" dirty="0">
                <a:solidFill>
                  <a:schemeClr val="dk2"/>
                </a:solidFill>
              </a:rPr>
              <a:t>? Why might they be the most difficult? Provide an example RGB image from </a:t>
            </a:r>
            <a:r>
              <a:rPr lang="en-US" dirty="0" err="1">
                <a:solidFill>
                  <a:schemeClr val="dk2"/>
                </a:solidFill>
              </a:rPr>
              <a:t>Camvid</a:t>
            </a:r>
            <a:r>
              <a:rPr lang="en-US" dirty="0">
                <a:solidFill>
                  <a:schemeClr val="dk2"/>
                </a:solidFill>
              </a:rPr>
              <a:t> that illustrates your point.</a:t>
            </a:r>
          </a:p>
          <a:p>
            <a:endParaRPr lang="en-US" dirty="0"/>
          </a:p>
        </p:txBody>
      </p:sp>
      <p:pic>
        <p:nvPicPr>
          <p:cNvPr id="4" name="Picture 3">
            <a:extLst>
              <a:ext uri="{FF2B5EF4-FFF2-40B4-BE49-F238E27FC236}">
                <a16:creationId xmlns:a16="http://schemas.microsoft.com/office/drawing/2014/main" id="{E44E67A7-07EB-F897-CA95-8852F4FBA16B}"/>
              </a:ext>
            </a:extLst>
          </p:cNvPr>
          <p:cNvPicPr>
            <a:picLocks noChangeAspect="1"/>
          </p:cNvPicPr>
          <p:nvPr/>
        </p:nvPicPr>
        <p:blipFill>
          <a:blip r:embed="rId3"/>
          <a:stretch>
            <a:fillRect/>
          </a:stretch>
        </p:blipFill>
        <p:spPr>
          <a:xfrm>
            <a:off x="214656" y="1571157"/>
            <a:ext cx="4779776" cy="2465061"/>
          </a:xfrm>
          <a:prstGeom prst="rect">
            <a:avLst/>
          </a:prstGeom>
        </p:spPr>
      </p:pic>
      <p:sp>
        <p:nvSpPr>
          <p:cNvPr id="5" name="TextBox 4">
            <a:extLst>
              <a:ext uri="{FF2B5EF4-FFF2-40B4-BE49-F238E27FC236}">
                <a16:creationId xmlns:a16="http://schemas.microsoft.com/office/drawing/2014/main" id="{A4DA4092-A73F-BEBC-8D43-7C7B0916C775}"/>
              </a:ext>
            </a:extLst>
          </p:cNvPr>
          <p:cNvSpPr txBox="1"/>
          <p:nvPr/>
        </p:nvSpPr>
        <p:spPr>
          <a:xfrm>
            <a:off x="5079157" y="1571158"/>
            <a:ext cx="3672957" cy="1600438"/>
          </a:xfrm>
          <a:prstGeom prst="rect">
            <a:avLst/>
          </a:prstGeom>
          <a:noFill/>
        </p:spPr>
        <p:txBody>
          <a:bodyPr wrap="square" rtlCol="0">
            <a:spAutoFit/>
          </a:bodyPr>
          <a:lstStyle/>
          <a:p>
            <a:r>
              <a:rPr lang="en-US" dirty="0">
                <a:solidFill>
                  <a:schemeClr val="dk2"/>
                </a:solidFill>
              </a:rPr>
              <a:t>Classes that tend to contain smaller objects or more granular detail are more difficult to detect. Using the image to the left as reference, we can see bicyclists were not identified as well as more granular details on the right side – such as a fence.</a:t>
            </a:r>
          </a:p>
          <a:p>
            <a:endParaRPr lang="en-US" dirty="0"/>
          </a:p>
        </p:txBody>
      </p:sp>
    </p:spTree>
    <p:extLst>
      <p:ext uri="{BB962C8B-B14F-4D97-AF65-F5344CB8AC3E}">
        <p14:creationId xmlns:p14="http://schemas.microsoft.com/office/powerpoint/2010/main" val="3605064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2"/>
          <p:cNvSpPr txBox="1">
            <a:spLocks noGrp="1"/>
          </p:cNvSpPr>
          <p:nvPr>
            <p:ph type="body" idx="1"/>
          </p:nvPr>
        </p:nvSpPr>
        <p:spPr>
          <a:xfrm>
            <a:off x="311700" y="438800"/>
            <a:ext cx="8395500" cy="413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Conclusion: briefly discuss what you have learned from this project.</a:t>
            </a:r>
            <a:endParaRPr b="1" dirty="0"/>
          </a:p>
          <a:p>
            <a:pPr marL="0" lvl="0" indent="0" algn="l" rtl="0">
              <a:lnSpc>
                <a:spcPct val="115000"/>
              </a:lnSpc>
              <a:spcBef>
                <a:spcPts val="1600"/>
              </a:spcBef>
              <a:spcAft>
                <a:spcPts val="1600"/>
              </a:spcAft>
              <a:buSzPts val="1400"/>
              <a:buNone/>
            </a:pPr>
            <a:r>
              <a:rPr lang="en" dirty="0"/>
              <a:t>&lt;Text solution here&gt;</a:t>
            </a:r>
          </a:p>
          <a:p>
            <a:pPr marL="0" lvl="0" indent="0" algn="l" rtl="0">
              <a:lnSpc>
                <a:spcPct val="115000"/>
              </a:lnSpc>
              <a:spcBef>
                <a:spcPts val="1600"/>
              </a:spcBef>
              <a:spcAft>
                <a:spcPts val="1600"/>
              </a:spcAft>
              <a:buSzPts val="1400"/>
              <a:buNone/>
            </a:pPr>
            <a:r>
              <a:rPr lang="en" dirty="0"/>
              <a:t>This project has pulled back the curtain on image classification machine algorithms from being a black box to learning how to tune hyperparameters and what the strengths of the models are.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C46E2-4B53-863D-07CB-E31B2245D98D}"/>
              </a:ext>
            </a:extLst>
          </p:cNvPr>
          <p:cNvSpPr>
            <a:spLocks noGrp="1"/>
          </p:cNvSpPr>
          <p:nvPr>
            <p:ph type="title"/>
          </p:nvPr>
        </p:nvSpPr>
        <p:spPr/>
        <p:txBody>
          <a:bodyPr/>
          <a:lstStyle/>
          <a:p>
            <a:r>
              <a:rPr lang="en-US" dirty="0"/>
              <a:t>Theory: Neural Nets</a:t>
            </a:r>
          </a:p>
        </p:txBody>
      </p:sp>
      <p:sp>
        <p:nvSpPr>
          <p:cNvPr id="3" name="Text Placeholder 2">
            <a:extLst>
              <a:ext uri="{FF2B5EF4-FFF2-40B4-BE49-F238E27FC236}">
                <a16:creationId xmlns:a16="http://schemas.microsoft.com/office/drawing/2014/main" id="{DE039CD4-4CFD-633A-C02D-0840F685A0E8}"/>
              </a:ext>
            </a:extLst>
          </p:cNvPr>
          <p:cNvSpPr>
            <a:spLocks noGrp="1"/>
          </p:cNvSpPr>
          <p:nvPr>
            <p:ph type="body" idx="1"/>
          </p:nvPr>
        </p:nvSpPr>
        <p:spPr/>
        <p:txBody>
          <a:bodyPr/>
          <a:lstStyle/>
          <a:p>
            <a:pPr algn="l">
              <a:buFont typeface="+mj-lt"/>
              <a:buAutoNum type="arabicPeriod"/>
            </a:pPr>
            <a:r>
              <a:rPr lang="en-US" b="0" i="0" dirty="0">
                <a:solidFill>
                  <a:schemeClr val="bg2">
                    <a:lumMod val="50000"/>
                  </a:schemeClr>
                </a:solidFill>
                <a:effectLst/>
                <a:latin typeface="+mj-lt"/>
              </a:rPr>
              <a:t>Given are the layers of a neural network. Calculate the total numbe</a:t>
            </a:r>
            <a:r>
              <a:rPr lang="en-US" dirty="0">
                <a:solidFill>
                  <a:schemeClr val="bg2">
                    <a:lumMod val="50000"/>
                  </a:schemeClr>
                </a:solidFill>
                <a:latin typeface="+mj-lt"/>
              </a:rPr>
              <a:t>r of learnable parameters for each layer and in total.</a:t>
            </a:r>
          </a:p>
          <a:p>
            <a:pPr algn="l">
              <a:buFont typeface="+mj-lt"/>
              <a:buAutoNum type="arabicPeriod"/>
            </a:pPr>
            <a:endParaRPr lang="en-US" dirty="0">
              <a:solidFill>
                <a:schemeClr val="tx1"/>
              </a:solidFill>
              <a:latin typeface="+mj-lt"/>
            </a:endParaRPr>
          </a:p>
          <a:p>
            <a:pPr marL="482600" indent="-342900">
              <a:buFont typeface="Arial"/>
              <a:buAutoNum type="alphaLcParenR"/>
            </a:pPr>
            <a:r>
              <a:rPr lang="en-US" dirty="0">
                <a:solidFill>
                  <a:schemeClr val="bg2">
                    <a:lumMod val="50000"/>
                  </a:schemeClr>
                </a:solidFill>
                <a:latin typeface="+mj-lt"/>
              </a:rPr>
              <a:t>Conv 1</a:t>
            </a:r>
            <a:r>
              <a:rPr lang="en-US" dirty="0">
                <a:solidFill>
                  <a:schemeClr val="tx1"/>
                </a:solidFill>
                <a:latin typeface="+mj-lt"/>
              </a:rPr>
              <a:t>: </a:t>
            </a:r>
            <a:r>
              <a:rPr lang="en-US" dirty="0">
                <a:solidFill>
                  <a:schemeClr val="bg1">
                    <a:lumMod val="65000"/>
                  </a:schemeClr>
                </a:solidFill>
                <a:latin typeface="+mj-lt"/>
              </a:rPr>
              <a:t>(3 x 5 x 5)(64) + 64 = 4864</a:t>
            </a:r>
            <a:endParaRPr lang="en-US" dirty="0">
              <a:solidFill>
                <a:schemeClr val="tx1"/>
              </a:solidFill>
              <a:latin typeface="+mj-lt"/>
            </a:endParaRPr>
          </a:p>
          <a:p>
            <a:pPr marL="482600" indent="-342900">
              <a:buFont typeface="Arial"/>
              <a:buAutoNum type="alphaLcParenR"/>
            </a:pPr>
            <a:r>
              <a:rPr lang="en-US" dirty="0">
                <a:solidFill>
                  <a:schemeClr val="bg2">
                    <a:lumMod val="50000"/>
                  </a:schemeClr>
                </a:solidFill>
                <a:latin typeface="+mj-lt"/>
              </a:rPr>
              <a:t>Conv 2</a:t>
            </a:r>
            <a:r>
              <a:rPr lang="en-US" dirty="0">
                <a:solidFill>
                  <a:schemeClr val="tx1"/>
                </a:solidFill>
                <a:latin typeface="+mj-lt"/>
              </a:rPr>
              <a:t>: </a:t>
            </a:r>
            <a:r>
              <a:rPr lang="en-US" dirty="0">
                <a:solidFill>
                  <a:schemeClr val="bg1">
                    <a:lumMod val="65000"/>
                  </a:schemeClr>
                </a:solidFill>
                <a:latin typeface="+mj-lt"/>
              </a:rPr>
              <a:t>(64 x 3 x 3)(128) + 128 = 73856</a:t>
            </a:r>
            <a:endParaRPr lang="en-US" dirty="0">
              <a:solidFill>
                <a:schemeClr val="tx1"/>
              </a:solidFill>
              <a:latin typeface="+mj-lt"/>
            </a:endParaRPr>
          </a:p>
          <a:p>
            <a:pPr marL="482600" indent="-342900">
              <a:buFont typeface="Arial"/>
              <a:buAutoNum type="alphaLcParenR"/>
            </a:pPr>
            <a:r>
              <a:rPr lang="en-US" dirty="0">
                <a:solidFill>
                  <a:schemeClr val="bg2">
                    <a:lumMod val="50000"/>
                  </a:schemeClr>
                </a:solidFill>
                <a:latin typeface="+mj-lt"/>
              </a:rPr>
              <a:t>FC1: </a:t>
            </a:r>
            <a:r>
              <a:rPr lang="en-US" dirty="0">
                <a:solidFill>
                  <a:schemeClr val="bg1">
                    <a:lumMod val="65000"/>
                  </a:schemeClr>
                </a:solidFill>
                <a:latin typeface="+mj-lt"/>
              </a:rPr>
              <a:t>(32100 x 10) + 10 = 32010</a:t>
            </a:r>
            <a:endParaRPr lang="en-US" dirty="0">
              <a:solidFill>
                <a:schemeClr val="tx1"/>
              </a:solidFill>
              <a:latin typeface="+mj-lt"/>
            </a:endParaRPr>
          </a:p>
          <a:p>
            <a:pPr marL="482600" indent="-342900">
              <a:buFont typeface="Arial"/>
              <a:buAutoNum type="alphaLcParenR"/>
            </a:pPr>
            <a:r>
              <a:rPr lang="en-US" dirty="0">
                <a:solidFill>
                  <a:schemeClr val="bg2">
                    <a:lumMod val="50000"/>
                  </a:schemeClr>
                </a:solidFill>
                <a:latin typeface="+mj-lt"/>
              </a:rPr>
              <a:t>Total (sum all 3): 110730</a:t>
            </a:r>
            <a:endParaRPr lang="en-US" dirty="0">
              <a:solidFill>
                <a:schemeClr val="tx1"/>
              </a:solidFill>
            </a:endParaRPr>
          </a:p>
          <a:p>
            <a:pPr marL="139700" indent="0">
              <a:buNone/>
            </a:pPr>
            <a:endParaRPr lang="en-US" dirty="0"/>
          </a:p>
        </p:txBody>
      </p:sp>
      <p:pic>
        <p:nvPicPr>
          <p:cNvPr id="8" name="Picture 7">
            <a:extLst>
              <a:ext uri="{FF2B5EF4-FFF2-40B4-BE49-F238E27FC236}">
                <a16:creationId xmlns:a16="http://schemas.microsoft.com/office/drawing/2014/main" id="{FC8F2067-6EB7-45CC-1C68-C9BF0D22E699}"/>
              </a:ext>
            </a:extLst>
          </p:cNvPr>
          <p:cNvPicPr>
            <a:picLocks noChangeAspect="1"/>
          </p:cNvPicPr>
          <p:nvPr/>
        </p:nvPicPr>
        <p:blipFill>
          <a:blip r:embed="rId2"/>
          <a:stretch>
            <a:fillRect/>
          </a:stretch>
        </p:blipFill>
        <p:spPr>
          <a:xfrm>
            <a:off x="4311599" y="1152475"/>
            <a:ext cx="4331905" cy="1248980"/>
          </a:xfrm>
          <a:prstGeom prst="rect">
            <a:avLst/>
          </a:prstGeom>
        </p:spPr>
      </p:pic>
      <p:sp>
        <p:nvSpPr>
          <p:cNvPr id="4" name="TextBox 3">
            <a:extLst>
              <a:ext uri="{FF2B5EF4-FFF2-40B4-BE49-F238E27FC236}">
                <a16:creationId xmlns:a16="http://schemas.microsoft.com/office/drawing/2014/main" id="{39B96B14-6733-4BE5-E210-0F68256C79C5}"/>
              </a:ext>
            </a:extLst>
          </p:cNvPr>
          <p:cNvSpPr txBox="1"/>
          <p:nvPr/>
        </p:nvSpPr>
        <p:spPr>
          <a:xfrm>
            <a:off x="4311599" y="2595418"/>
            <a:ext cx="4331905" cy="769441"/>
          </a:xfrm>
          <a:prstGeom prst="rect">
            <a:avLst/>
          </a:prstGeom>
          <a:noFill/>
        </p:spPr>
        <p:txBody>
          <a:bodyPr wrap="square" rtlCol="0">
            <a:spAutoFit/>
          </a:bodyPr>
          <a:lstStyle/>
          <a:p>
            <a:r>
              <a:rPr lang="en-US" sz="1100" dirty="0"/>
              <a:t>Note: You can look to </a:t>
            </a:r>
            <a:r>
              <a:rPr lang="en-US" sz="1100" dirty="0">
                <a:hlinkClick r:id="rId3"/>
              </a:rPr>
              <a:t>pytorch docs</a:t>
            </a:r>
            <a:r>
              <a:rPr lang="en-US" sz="1100" dirty="0"/>
              <a:t> to understand what each of the parameters correspond to.</a:t>
            </a:r>
          </a:p>
          <a:p>
            <a:endParaRPr lang="en-US" sz="1100" dirty="0"/>
          </a:p>
          <a:p>
            <a:endParaRPr lang="en-US" sz="1100" dirty="0"/>
          </a:p>
        </p:txBody>
      </p:sp>
    </p:spTree>
    <p:extLst>
      <p:ext uri="{BB962C8B-B14F-4D97-AF65-F5344CB8AC3E}">
        <p14:creationId xmlns:p14="http://schemas.microsoft.com/office/powerpoint/2010/main" val="1563510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C46E2-4B53-863D-07CB-E31B2245D98D}"/>
              </a:ext>
            </a:extLst>
          </p:cNvPr>
          <p:cNvSpPr>
            <a:spLocks noGrp="1"/>
          </p:cNvSpPr>
          <p:nvPr>
            <p:ph type="title"/>
          </p:nvPr>
        </p:nvSpPr>
        <p:spPr/>
        <p:txBody>
          <a:bodyPr/>
          <a:lstStyle/>
          <a:p>
            <a:r>
              <a:rPr lang="en-US" dirty="0"/>
              <a:t>Theory: Neural Nets (cont.) </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A4FDEE8A-EB74-5F73-71C6-EEBBF1D4910A}"/>
                  </a:ext>
                </a:extLst>
              </p:cNvPr>
              <p:cNvSpPr>
                <a:spLocks noGrp="1"/>
              </p:cNvSpPr>
              <p:nvPr>
                <p:ph type="body" idx="1"/>
              </p:nvPr>
            </p:nvSpPr>
            <p:spPr/>
            <p:txBody>
              <a:bodyPr/>
              <a:lstStyle/>
              <a:p>
                <a:pPr marL="139700" indent="0">
                  <a:buNone/>
                </a:pPr>
                <a:r>
                  <a:rPr lang="en-US" dirty="0"/>
                  <a:t>Here is the computational graph for the function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e>
                    </m:d>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sup>
                    </m:sSup>
                  </m:oMath>
                </a14:m>
                <a:r>
                  <a:rPr lang="en-US" dirty="0"/>
                  <a:t>. We want to compute the partial derivative of this function with respect to each input. Here are the three intermediate functions</a:t>
                </a:r>
              </a:p>
              <a:p>
                <a:pPr marL="139700" indent="0" algn="just">
                  <a:buNone/>
                </a:pP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oMath>
                </a14:m>
                <a:r>
                  <a:rPr lang="en-US" dirty="0"/>
                  <a:t>             </a:t>
                </a:r>
                <a14:m>
                  <m:oMath xmlns:m="http://schemas.openxmlformats.org/officeDocument/2006/math">
                    <m:r>
                      <a:rPr lang="en-US" b="0" i="0" dirty="0" smtClean="0">
                        <a:latin typeface="Cambria Math" panose="02040503050406030204" pitchFamily="18" charset="0"/>
                      </a:rPr>
                      <m:t>  </m:t>
                    </m:r>
                    <m:r>
                      <a:rPr lang="en-US" b="0" i="1" dirty="0" smtClean="0">
                        <a:latin typeface="Cambria Math" panose="02040503050406030204" pitchFamily="18" charset="0"/>
                      </a:rPr>
                      <m:t>𝐵</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𝑒</m:t>
                        </m:r>
                      </m:e>
                      <m:sup>
                        <m:r>
                          <a:rPr lang="en-US" b="0" i="1" dirty="0" smtClean="0">
                            <a:latin typeface="Cambria Math" panose="02040503050406030204" pitchFamily="18" charset="0"/>
                          </a:rPr>
                          <m:t>𝐴</m:t>
                        </m:r>
                      </m:sup>
                    </m:sSup>
                  </m:oMath>
                </a14:m>
                <a:r>
                  <a:rPr lang="en-US" dirty="0"/>
                  <a:t>               </a:t>
                </a:r>
                <a14:m>
                  <m:oMath xmlns:m="http://schemas.openxmlformats.org/officeDocument/2006/math">
                    <m:r>
                      <m:rPr>
                        <m:sty m:val="p"/>
                      </m:rPr>
                      <a:rPr lang="en-US" b="0" i="0" dirty="0" smtClean="0">
                        <a:latin typeface="Cambria Math" panose="02040503050406030204" pitchFamily="18" charset="0"/>
                      </a:rPr>
                      <m:t>C</m:t>
                    </m:r>
                    <m:r>
                      <a:rPr lang="en-US" i="1" dirty="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𝐵</m:t>
                    </m:r>
                  </m:oMath>
                </a14:m>
                <a:endParaRPr lang="en-US" dirty="0"/>
              </a:p>
              <a:p>
                <a:pPr marL="139700" indent="0" algn="just">
                  <a:buNone/>
                </a:pPr>
                <a:r>
                  <a:rPr lang="en-US" dirty="0"/>
                  <a:t>From these we build the feed forward computation graph, with inputs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m:t>
                    </m:r>
                    <m:r>
                      <a:rPr lang="en-US" b="0" i="1" smtClean="0">
                        <a:latin typeface="Cambria Math" panose="02040503050406030204" pitchFamily="18" charset="0"/>
                      </a:rPr>
                      <m:t>𝑚</m:t>
                    </m:r>
                  </m:oMath>
                </a14:m>
                <a:r>
                  <a:rPr lang="en-US" dirty="0"/>
                  <a:t>. The top input is </a:t>
                </a:r>
                <a14:m>
                  <m:oMath xmlns:m="http://schemas.openxmlformats.org/officeDocument/2006/math">
                    <m:r>
                      <a:rPr lang="en-US" b="0" i="1" smtClean="0">
                        <a:latin typeface="Cambria Math" panose="02040503050406030204" pitchFamily="18" charset="0"/>
                      </a:rPr>
                      <m:t>𝑛</m:t>
                    </m:r>
                  </m:oMath>
                </a14:m>
                <a:r>
                  <a:rPr lang="en-US" dirty="0"/>
                  <a:t> and the bottom is </a:t>
                </a:r>
                <a14:m>
                  <m:oMath xmlns:m="http://schemas.openxmlformats.org/officeDocument/2006/math">
                    <m:r>
                      <a:rPr lang="en-US" b="0" i="1" smtClean="0">
                        <a:latin typeface="Cambria Math" panose="02040503050406030204" pitchFamily="18" charset="0"/>
                      </a:rPr>
                      <m:t>𝑚</m:t>
                    </m:r>
                  </m:oMath>
                </a14:m>
                <a:r>
                  <a:rPr lang="en-US" dirty="0"/>
                  <a:t>.</a:t>
                </a:r>
              </a:p>
            </p:txBody>
          </p:sp>
        </mc:Choice>
        <mc:Fallback xmlns="">
          <p:sp>
            <p:nvSpPr>
              <p:cNvPr id="6" name="Text Placeholder 5">
                <a:extLst>
                  <a:ext uri="{FF2B5EF4-FFF2-40B4-BE49-F238E27FC236}">
                    <a16:creationId xmlns:a16="http://schemas.microsoft.com/office/drawing/2014/main" id="{A4FDEE8A-EB74-5F73-71C6-EEBBF1D4910A}"/>
                  </a:ext>
                </a:extLst>
              </p:cNvPr>
              <p:cNvSpPr>
                <a:spLocks noGrp="1" noRot="1" noChangeAspect="1" noMove="1" noResize="1" noEditPoints="1" noAdjustHandles="1" noChangeArrowheads="1" noChangeShapeType="1" noTextEdit="1"/>
              </p:cNvSpPr>
              <p:nvPr>
                <p:ph type="body" idx="1"/>
              </p:nvPr>
            </p:nvSpPr>
            <p:spPr>
              <a:blipFill>
                <a:blip r:embed="rId2"/>
                <a:stretch>
                  <a:fillRect r="-316"/>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5904EFF4-02B0-3E26-5CAE-A11D7F9DBE42}"/>
              </a:ext>
            </a:extLst>
          </p:cNvPr>
          <p:cNvPicPr>
            <a:picLocks noChangeAspect="1"/>
          </p:cNvPicPr>
          <p:nvPr/>
        </p:nvPicPr>
        <p:blipFill rotWithShape="1">
          <a:blip r:embed="rId3"/>
          <a:srcRect l="19835" t="22082" r="16819" b="55986"/>
          <a:stretch/>
        </p:blipFill>
        <p:spPr>
          <a:xfrm>
            <a:off x="1008589" y="3545657"/>
            <a:ext cx="2999574" cy="1445052"/>
          </a:xfrm>
          <a:prstGeom prst="rect">
            <a:avLst/>
          </a:prstGeom>
        </p:spPr>
      </p:pic>
      <mc:AlternateContent xmlns:mc="http://schemas.openxmlformats.org/markup-compatibility/2006">
        <mc:Choice xmlns:a14="http://schemas.microsoft.com/office/drawing/2010/main" Requires="a14">
          <p:sp>
            <p:nvSpPr>
              <p:cNvPr id="10" name="Text Placeholder 5">
                <a:extLst>
                  <a:ext uri="{FF2B5EF4-FFF2-40B4-BE49-F238E27FC236}">
                    <a16:creationId xmlns:a16="http://schemas.microsoft.com/office/drawing/2014/main" id="{E0C78CA2-1237-17C0-B53E-8B1E43BFD32E}"/>
                  </a:ext>
                </a:extLst>
              </p:cNvPr>
              <p:cNvSpPr txBox="1">
                <a:spLocks/>
              </p:cNvSpPr>
              <p:nvPr/>
            </p:nvSpPr>
            <p:spPr>
              <a:xfrm>
                <a:off x="4705052" y="1152475"/>
                <a:ext cx="3999900" cy="341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pPr marL="139700" indent="0" algn="just">
                  <a:buNone/>
                </a:pPr>
                <a:r>
                  <a:rPr lang="en-US" dirty="0"/>
                  <a:t>a. What is the correct expression for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𝐶</m:t>
                        </m:r>
                      </m:num>
                      <m:den>
                        <m:r>
                          <a:rPr lang="en-US" i="1" smtClean="0">
                            <a:latin typeface="Cambria Math" panose="02040503050406030204" pitchFamily="18" charset="0"/>
                          </a:rPr>
                          <m:t>𝜕</m:t>
                        </m:r>
                        <m:r>
                          <a:rPr lang="en-US" i="1" smtClean="0">
                            <a:latin typeface="Cambria Math" panose="02040503050406030204" pitchFamily="18" charset="0"/>
                          </a:rPr>
                          <m:t>𝑥</m:t>
                        </m:r>
                      </m:den>
                    </m:f>
                  </m:oMath>
                </a14:m>
                <a:r>
                  <a:rPr lang="en-US" dirty="0"/>
                  <a:t> ?</a:t>
                </a:r>
              </a:p>
              <a:p>
                <a:pPr marL="139700" indent="0" algn="just">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𝑧</m:t>
                          </m:r>
                        </m:sup>
                      </m:sSup>
                      <m:r>
                        <a:rPr lang="en-US" b="0" i="1" smtClean="0">
                          <a:latin typeface="Cambria Math" panose="02040503050406030204" pitchFamily="18" charset="0"/>
                        </a:rPr>
                        <m:t>=</m:t>
                      </m:r>
                      <m:r>
                        <a:rPr lang="en-US" b="0" i="1" smtClean="0">
                          <a:latin typeface="Cambria Math" panose="02040503050406030204" pitchFamily="18" charset="0"/>
                        </a:rPr>
                        <m:t>𝐵</m:t>
                      </m:r>
                    </m:oMath>
                  </m:oMathPara>
                </a14:m>
                <a:endParaRPr lang="en-US" dirty="0">
                  <a:solidFill>
                    <a:schemeClr val="bg2"/>
                  </a:solidFill>
                </a:endParaRPr>
              </a:p>
              <a:p>
                <a:pPr marL="139700" indent="0" algn="just">
                  <a:buNone/>
                </a:pPr>
                <a:r>
                  <a:rPr lang="en-US" dirty="0"/>
                  <a:t>b. What is the correct expression for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𝐶</m:t>
                        </m:r>
                      </m:num>
                      <m:den>
                        <m:r>
                          <a:rPr lang="en-US" i="1" smtClean="0">
                            <a:latin typeface="Cambria Math" panose="02040503050406030204" pitchFamily="18" charset="0"/>
                          </a:rPr>
                          <m:t>𝜕</m:t>
                        </m:r>
                        <m:r>
                          <a:rPr lang="en-US" b="0" i="1" smtClean="0">
                            <a:latin typeface="Cambria Math" panose="02040503050406030204" pitchFamily="18" charset="0"/>
                          </a:rPr>
                          <m:t>𝐵</m:t>
                        </m:r>
                      </m:den>
                    </m:f>
                  </m:oMath>
                </a14:m>
                <a:r>
                  <a:rPr lang="en-US" dirty="0"/>
                  <a:t> ?</a:t>
                </a:r>
              </a:p>
              <a:p>
                <a:pPr marL="139700" indent="0" algn="just">
                  <a:buNone/>
                </a:pPr>
                <a14:m>
                  <m:oMathPara xmlns:m="http://schemas.openxmlformats.org/officeDocument/2006/math">
                    <m:oMathParaPr>
                      <m:jc m:val="centerGroup"/>
                    </m:oMathParaPr>
                    <m:oMath xmlns:m="http://schemas.openxmlformats.org/officeDocument/2006/math">
                      <m:r>
                        <a:rPr lang="en-US" b="0" i="1" smtClean="0">
                          <a:solidFill>
                            <a:schemeClr val="bg2"/>
                          </a:solidFill>
                          <a:latin typeface="Cambria Math" panose="02040503050406030204" pitchFamily="18" charset="0"/>
                        </a:rPr>
                        <m:t>𝑥</m:t>
                      </m:r>
                    </m:oMath>
                  </m:oMathPara>
                </a14:m>
                <a:endParaRPr lang="en-US" dirty="0">
                  <a:solidFill>
                    <a:schemeClr val="bg2"/>
                  </a:solidFill>
                </a:endParaRPr>
              </a:p>
              <a:p>
                <a:pPr marL="139700" indent="0" algn="just">
                  <a:buNone/>
                </a:pPr>
                <a:r>
                  <a:rPr lang="en-US" dirty="0"/>
                  <a:t>c. What is the correct expression for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𝐵</m:t>
                        </m:r>
                      </m:num>
                      <m:den>
                        <m:r>
                          <a:rPr lang="en-US" i="1" smtClean="0">
                            <a:latin typeface="Cambria Math" panose="02040503050406030204" pitchFamily="18" charset="0"/>
                          </a:rPr>
                          <m:t>𝜕</m:t>
                        </m:r>
                        <m:r>
                          <a:rPr lang="en-US" b="0" i="1" smtClean="0">
                            <a:latin typeface="Cambria Math" panose="02040503050406030204" pitchFamily="18" charset="0"/>
                          </a:rPr>
                          <m:t>𝐴</m:t>
                        </m:r>
                      </m:den>
                    </m:f>
                  </m:oMath>
                </a14:m>
                <a:r>
                  <a:rPr lang="en-US" dirty="0"/>
                  <a:t> ?</a:t>
                </a:r>
              </a:p>
              <a:p>
                <a:pPr marL="139700" indent="0" algn="just">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b="0" i="1" smtClean="0">
                              <a:latin typeface="Cambria Math" panose="02040503050406030204" pitchFamily="18" charset="0"/>
                            </a:rPr>
                            <m:t>𝐴</m:t>
                          </m:r>
                        </m:sup>
                      </m:sSup>
                      <m:r>
                        <a:rPr lang="en-US" b="0" i="1" smtClean="0">
                          <a:latin typeface="Cambria Math" panose="02040503050406030204" pitchFamily="18" charset="0"/>
                        </a:rPr>
                        <m:t>=</m:t>
                      </m:r>
                      <m:r>
                        <a:rPr lang="en-US" b="0" i="1" smtClean="0">
                          <a:latin typeface="Cambria Math" panose="02040503050406030204" pitchFamily="18" charset="0"/>
                        </a:rPr>
                        <m:t>𝐵</m:t>
                      </m:r>
                    </m:oMath>
                  </m:oMathPara>
                </a14:m>
                <a:endParaRPr lang="en-US" dirty="0">
                  <a:solidFill>
                    <a:srgbClr val="FF0000"/>
                  </a:solidFill>
                </a:endParaRPr>
              </a:p>
              <a:p>
                <a:pPr marL="139700" indent="0" algn="just">
                  <a:buNone/>
                </a:pPr>
                <a:r>
                  <a:rPr lang="en-US" dirty="0"/>
                  <a:t>d. What is the correct expression for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𝐴</m:t>
                        </m:r>
                      </m:num>
                      <m:den>
                        <m:r>
                          <a:rPr lang="en-US" i="1" smtClean="0">
                            <a:latin typeface="Cambria Math" panose="02040503050406030204" pitchFamily="18" charset="0"/>
                          </a:rPr>
                          <m:t>𝜕</m:t>
                        </m:r>
                        <m:r>
                          <a:rPr lang="en-US" b="0" i="1" smtClean="0">
                            <a:latin typeface="Cambria Math" panose="02040503050406030204" pitchFamily="18" charset="0"/>
                          </a:rPr>
                          <m:t>𝑦</m:t>
                        </m:r>
                      </m:den>
                    </m:f>
                  </m:oMath>
                </a14:m>
                <a:r>
                  <a:rPr lang="en-US" dirty="0"/>
                  <a:t> ?</a:t>
                </a:r>
              </a:p>
              <a:p>
                <a:pPr marL="139700" indent="0" algn="just">
                  <a:buNone/>
                </a:pPr>
                <a14:m>
                  <m:oMathPara xmlns:m="http://schemas.openxmlformats.org/officeDocument/2006/math">
                    <m:oMathParaPr>
                      <m:jc m:val="centerGroup"/>
                    </m:oMathParaPr>
                    <m:oMath xmlns:m="http://schemas.openxmlformats.org/officeDocument/2006/math">
                      <m:r>
                        <a:rPr lang="en-US" b="0" i="1" smtClean="0">
                          <a:solidFill>
                            <a:schemeClr val="bg2"/>
                          </a:solidFill>
                          <a:latin typeface="Cambria Math" panose="02040503050406030204" pitchFamily="18" charset="0"/>
                        </a:rPr>
                        <m:t>1</m:t>
                      </m:r>
                    </m:oMath>
                  </m:oMathPara>
                </a14:m>
                <a:endParaRPr lang="en-US" dirty="0">
                  <a:solidFill>
                    <a:schemeClr val="bg2"/>
                  </a:solidFill>
                </a:endParaRPr>
              </a:p>
              <a:p>
                <a:pPr marL="139700" indent="0" algn="just">
                  <a:buNone/>
                </a:pPr>
                <a:r>
                  <a:rPr lang="en-US" dirty="0"/>
                  <a:t>e. What is the correct expression for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𝐶</m:t>
                        </m:r>
                      </m:num>
                      <m:den>
                        <m:r>
                          <a:rPr lang="en-US" i="1" smtClean="0">
                            <a:latin typeface="Cambria Math" panose="02040503050406030204" pitchFamily="18" charset="0"/>
                          </a:rPr>
                          <m:t>𝜕</m:t>
                        </m:r>
                        <m:r>
                          <a:rPr lang="en-US" b="0" i="1" smtClean="0">
                            <a:latin typeface="Cambria Math" panose="02040503050406030204" pitchFamily="18" charset="0"/>
                          </a:rPr>
                          <m:t>𝑦</m:t>
                        </m:r>
                      </m:den>
                    </m:f>
                  </m:oMath>
                </a14:m>
                <a:r>
                  <a:rPr lang="en-US" dirty="0"/>
                  <a:t> ?</a:t>
                </a:r>
              </a:p>
              <a:p>
                <a:pPr marL="139700" indent="0" algn="just">
                  <a:buNone/>
                </a:pPr>
                <a14:m>
                  <m:oMathPara xmlns:m="http://schemas.openxmlformats.org/officeDocument/2006/math">
                    <m:oMathParaPr>
                      <m:jc m:val="centerGroup"/>
                    </m:oMathParaPr>
                    <m:oMath xmlns:m="http://schemas.openxmlformats.org/officeDocument/2006/math">
                      <m:r>
                        <a:rPr lang="en-US" b="0" i="1" smtClean="0">
                          <a:solidFill>
                            <a:schemeClr val="bg2"/>
                          </a:solidFill>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𝑧</m:t>
                          </m:r>
                        </m:sup>
                      </m:sSup>
                      <m:r>
                        <a:rPr lang="en-US" b="0" i="1" smtClean="0">
                          <a:latin typeface="Cambria Math" panose="02040503050406030204" pitchFamily="18" charset="0"/>
                        </a:rPr>
                        <m:t>=</m:t>
                      </m:r>
                      <m:r>
                        <a:rPr lang="en-US" b="0" i="1" smtClean="0">
                          <a:latin typeface="Cambria Math" panose="02040503050406030204" pitchFamily="18" charset="0"/>
                        </a:rPr>
                        <m:t>𝑥𝐵</m:t>
                      </m:r>
                    </m:oMath>
                  </m:oMathPara>
                </a14:m>
                <a:endParaRPr lang="en-US" dirty="0">
                  <a:solidFill>
                    <a:srgbClr val="FF0000"/>
                  </a:solidFill>
                </a:endParaRPr>
              </a:p>
              <a:p>
                <a:pPr marL="139700" indent="0" algn="just">
                  <a:buNone/>
                </a:pPr>
                <a:endParaRPr lang="en-US" dirty="0">
                  <a:solidFill>
                    <a:srgbClr val="FF0000"/>
                  </a:solidFill>
                </a:endParaRPr>
              </a:p>
              <a:p>
                <a:pPr marL="139700" indent="0" algn="just">
                  <a:buNone/>
                </a:pPr>
                <a:endParaRPr lang="en-US" dirty="0"/>
              </a:p>
              <a:p>
                <a:pPr marL="139700" indent="0" algn="just">
                  <a:buNone/>
                </a:pPr>
                <a:endParaRPr lang="en-US" dirty="0">
                  <a:solidFill>
                    <a:srgbClr val="FF0000"/>
                  </a:solidFill>
                </a:endParaRPr>
              </a:p>
              <a:p>
                <a:pPr marL="139700" indent="0" algn="just">
                  <a:buNone/>
                </a:pPr>
                <a:endParaRPr lang="en-US" dirty="0"/>
              </a:p>
            </p:txBody>
          </p:sp>
        </mc:Choice>
        <mc:Fallback>
          <p:sp>
            <p:nvSpPr>
              <p:cNvPr id="10" name="Text Placeholder 5">
                <a:extLst>
                  <a:ext uri="{FF2B5EF4-FFF2-40B4-BE49-F238E27FC236}">
                    <a16:creationId xmlns:a16="http://schemas.microsoft.com/office/drawing/2014/main" id="{E0C78CA2-1237-17C0-B53E-8B1E43BFD32E}"/>
                  </a:ext>
                </a:extLst>
              </p:cNvPr>
              <p:cNvSpPr txBox="1">
                <a:spLocks noRot="1" noChangeAspect="1" noMove="1" noResize="1" noEditPoints="1" noAdjustHandles="1" noChangeArrowheads="1" noChangeShapeType="1" noTextEdit="1"/>
              </p:cNvSpPr>
              <p:nvPr/>
            </p:nvSpPr>
            <p:spPr>
              <a:xfrm>
                <a:off x="4705052" y="1152475"/>
                <a:ext cx="3999900" cy="3416400"/>
              </a:xfrm>
              <a:prstGeom prst="rect">
                <a:avLst/>
              </a:prstGeom>
              <a:blipFill>
                <a:blip r:embed="rId4"/>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326936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5"/>
          <p:cNvSpPr txBox="1">
            <a:spLocks noGrp="1"/>
          </p:cNvSpPr>
          <p:nvPr>
            <p:ph type="body" idx="1"/>
          </p:nvPr>
        </p:nvSpPr>
        <p:spPr>
          <a:xfrm>
            <a:off x="311700" y="438800"/>
            <a:ext cx="8353500" cy="413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EC1.1: Screenshot of your get_data_augmentation_transforms()</a:t>
            </a:r>
            <a:endParaRPr b="1" dirty="0"/>
          </a:p>
          <a:p>
            <a:pPr marL="0" lvl="0" indent="0" algn="l" rtl="0">
              <a:lnSpc>
                <a:spcPct val="115000"/>
              </a:lnSpc>
              <a:spcBef>
                <a:spcPts val="1600"/>
              </a:spcBef>
              <a:spcAft>
                <a:spcPts val="0"/>
              </a:spcAft>
              <a:buSzPts val="1400"/>
              <a:buNone/>
            </a:pPr>
            <a:r>
              <a:rPr lang="en" dirty="0"/>
              <a:t>&lt;Screenshot here if attempted; do not delete the slide if not attempted&gt;							</a:t>
            </a: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1600"/>
              </a:spcAft>
              <a:buSzPts val="1400"/>
              <a:buNone/>
            </a:pPr>
            <a:endParaRPr dirty="0"/>
          </a:p>
        </p:txBody>
      </p:sp>
      <p:pic>
        <p:nvPicPr>
          <p:cNvPr id="3" name="Picture 2">
            <a:extLst>
              <a:ext uri="{FF2B5EF4-FFF2-40B4-BE49-F238E27FC236}">
                <a16:creationId xmlns:a16="http://schemas.microsoft.com/office/drawing/2014/main" id="{C7EE223B-790C-8E32-B141-46B97973D3ED}"/>
              </a:ext>
            </a:extLst>
          </p:cNvPr>
          <p:cNvPicPr>
            <a:picLocks noChangeAspect="1"/>
          </p:cNvPicPr>
          <p:nvPr/>
        </p:nvPicPr>
        <p:blipFill>
          <a:blip r:embed="rId3"/>
          <a:stretch>
            <a:fillRect/>
          </a:stretch>
        </p:blipFill>
        <p:spPr>
          <a:xfrm>
            <a:off x="1165968" y="1398934"/>
            <a:ext cx="5149108" cy="35731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6"/>
          <p:cNvSpPr txBox="1">
            <a:spLocks noGrp="1"/>
          </p:cNvSpPr>
          <p:nvPr>
            <p:ph type="body" idx="1"/>
          </p:nvPr>
        </p:nvSpPr>
        <p:spPr>
          <a:xfrm>
            <a:off x="311700" y="438800"/>
            <a:ext cx="8353500" cy="413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EC1: Training to solve overfitting</a:t>
            </a:r>
            <a:endParaRPr b="1" dirty="0"/>
          </a:p>
          <a:p>
            <a:pPr marL="0" lvl="0" indent="0" algn="l" rtl="0">
              <a:lnSpc>
                <a:spcPct val="115000"/>
              </a:lnSpc>
              <a:spcBef>
                <a:spcPts val="1600"/>
              </a:spcBef>
              <a:spcAft>
                <a:spcPts val="0"/>
              </a:spcAft>
              <a:buSzPts val="1400"/>
              <a:buNone/>
            </a:pPr>
            <a:r>
              <a:rPr lang="en" dirty="0"/>
              <a:t>&lt;Loss plot here&gt;				      &lt;Accuracy plot here&gt;</a:t>
            </a: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r>
              <a:rPr lang="en" dirty="0"/>
              <a:t>Final training accuracy value: 0.6543</a:t>
            </a:r>
            <a:endParaRPr dirty="0"/>
          </a:p>
          <a:p>
            <a:pPr marL="0" lvl="0" indent="0" algn="l" rtl="0">
              <a:lnSpc>
                <a:spcPct val="114999"/>
              </a:lnSpc>
              <a:spcBef>
                <a:spcPts val="1600"/>
              </a:spcBef>
              <a:spcAft>
                <a:spcPts val="0"/>
              </a:spcAft>
              <a:buSzPts val="1400"/>
              <a:buNone/>
            </a:pPr>
            <a:r>
              <a:rPr lang="en" dirty="0"/>
              <a:t>Final validation accuracy value: 0.5900</a:t>
            </a:r>
            <a:endParaRPr dirty="0"/>
          </a:p>
        </p:txBody>
      </p:sp>
      <p:pic>
        <p:nvPicPr>
          <p:cNvPr id="3" name="Picture 2">
            <a:extLst>
              <a:ext uri="{FF2B5EF4-FFF2-40B4-BE49-F238E27FC236}">
                <a16:creationId xmlns:a16="http://schemas.microsoft.com/office/drawing/2014/main" id="{9674461C-70DD-27E9-EE72-5F893EB0E3B6}"/>
              </a:ext>
            </a:extLst>
          </p:cNvPr>
          <p:cNvPicPr>
            <a:picLocks noChangeAspect="1"/>
          </p:cNvPicPr>
          <p:nvPr/>
        </p:nvPicPr>
        <p:blipFill>
          <a:blip r:embed="rId3"/>
          <a:stretch>
            <a:fillRect/>
          </a:stretch>
        </p:blipFill>
        <p:spPr>
          <a:xfrm>
            <a:off x="378620" y="1264807"/>
            <a:ext cx="3450969" cy="2757124"/>
          </a:xfrm>
          <a:prstGeom prst="rect">
            <a:avLst/>
          </a:prstGeom>
        </p:spPr>
      </p:pic>
      <p:pic>
        <p:nvPicPr>
          <p:cNvPr id="5" name="Picture 4">
            <a:extLst>
              <a:ext uri="{FF2B5EF4-FFF2-40B4-BE49-F238E27FC236}">
                <a16:creationId xmlns:a16="http://schemas.microsoft.com/office/drawing/2014/main" id="{59067286-AA31-3502-4AD1-28EB4E5B8FE4}"/>
              </a:ext>
            </a:extLst>
          </p:cNvPr>
          <p:cNvPicPr>
            <a:picLocks noChangeAspect="1"/>
          </p:cNvPicPr>
          <p:nvPr/>
        </p:nvPicPr>
        <p:blipFill>
          <a:blip r:embed="rId4"/>
          <a:stretch>
            <a:fillRect/>
          </a:stretch>
        </p:blipFill>
        <p:spPr>
          <a:xfrm>
            <a:off x="4531312" y="1264807"/>
            <a:ext cx="3791201" cy="30289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body" idx="1"/>
          </p:nvPr>
        </p:nvSpPr>
        <p:spPr>
          <a:xfrm>
            <a:off x="311700" y="438800"/>
            <a:ext cx="8353500" cy="45693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EC2: </a:t>
            </a:r>
            <a:r>
              <a:rPr lang="en-US" b="1" dirty="0" err="1"/>
              <a:t>PSPNet</a:t>
            </a:r>
            <a:endParaRPr b="1"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p:txBody>
      </p:sp>
      <p:graphicFrame>
        <p:nvGraphicFramePr>
          <p:cNvPr id="2" name="Google Shape;114;p27">
            <a:extLst>
              <a:ext uri="{FF2B5EF4-FFF2-40B4-BE49-F238E27FC236}">
                <a16:creationId xmlns:a16="http://schemas.microsoft.com/office/drawing/2014/main" id="{1714CE43-2692-CBA0-7CCD-0FDB6E5514B7}"/>
              </a:ext>
            </a:extLst>
          </p:cNvPr>
          <p:cNvGraphicFramePr/>
          <p:nvPr>
            <p:extLst>
              <p:ext uri="{D42A27DB-BD31-4B8C-83A1-F6EECF244321}">
                <p14:modId xmlns:p14="http://schemas.microsoft.com/office/powerpoint/2010/main" val="3585816172"/>
              </p:ext>
            </p:extLst>
          </p:nvPr>
        </p:nvGraphicFramePr>
        <p:xfrm>
          <a:off x="528937" y="895739"/>
          <a:ext cx="6130975" cy="3840120"/>
        </p:xfrm>
        <a:graphic>
          <a:graphicData uri="http://schemas.openxmlformats.org/drawingml/2006/table">
            <a:tbl>
              <a:tblPr>
                <a:noFill/>
              </a:tblPr>
              <a:tblGrid>
                <a:gridCol w="1238250">
                  <a:extLst>
                    <a:ext uri="{9D8B030D-6E8A-4147-A177-3AD203B41FA5}">
                      <a16:colId xmlns:a16="http://schemas.microsoft.com/office/drawing/2014/main" val="20000"/>
                    </a:ext>
                  </a:extLst>
                </a:gridCol>
                <a:gridCol w="1650600">
                  <a:extLst>
                    <a:ext uri="{9D8B030D-6E8A-4147-A177-3AD203B41FA5}">
                      <a16:colId xmlns:a16="http://schemas.microsoft.com/office/drawing/2014/main" val="20001"/>
                    </a:ext>
                  </a:extLst>
                </a:gridCol>
                <a:gridCol w="3242125">
                  <a:extLst>
                    <a:ext uri="{9D8B030D-6E8A-4147-A177-3AD203B41FA5}">
                      <a16:colId xmlns:a16="http://schemas.microsoft.com/office/drawing/2014/main" val="20002"/>
                    </a:ext>
                  </a:extLst>
                </a:gridCol>
              </a:tblGrid>
              <a:tr h="288851">
                <a:tc>
                  <a:txBody>
                    <a:bodyPr/>
                    <a:lstStyle/>
                    <a:p>
                      <a:pPr marL="0" lvl="0" indent="0" algn="l" rtl="0">
                        <a:spcBef>
                          <a:spcPts val="0"/>
                        </a:spcBef>
                        <a:spcAft>
                          <a:spcPts val="0"/>
                        </a:spcAft>
                        <a:buNone/>
                      </a:pPr>
                      <a:r>
                        <a:rPr lang="en" sz="900"/>
                        <a:t>Class Index</a:t>
                      </a:r>
                      <a:endParaRPr sz="900"/>
                    </a:p>
                  </a:txBody>
                  <a:tcPr marL="91425" marR="91425" marT="91425" marB="91425"/>
                </a:tc>
                <a:tc>
                  <a:txBody>
                    <a:bodyPr/>
                    <a:lstStyle/>
                    <a:p>
                      <a:pPr marL="0" lvl="0" indent="0" algn="l" rtl="0">
                        <a:spcBef>
                          <a:spcPts val="0"/>
                        </a:spcBef>
                        <a:spcAft>
                          <a:spcPts val="0"/>
                        </a:spcAft>
                        <a:buNone/>
                      </a:pPr>
                      <a:r>
                        <a:rPr lang="en" sz="900" dirty="0"/>
                        <a:t>Class name</a:t>
                      </a:r>
                      <a:endParaRPr sz="900" dirty="0"/>
                    </a:p>
                  </a:txBody>
                  <a:tcPr marL="91425" marR="91425" marT="91425" marB="91425"/>
                </a:tc>
                <a:tc>
                  <a:txBody>
                    <a:bodyPr/>
                    <a:lstStyle/>
                    <a:p>
                      <a:pPr marL="0" lvl="0" indent="0" algn="l" rtl="0">
                        <a:spcBef>
                          <a:spcPts val="0"/>
                        </a:spcBef>
                        <a:spcAft>
                          <a:spcPts val="0"/>
                        </a:spcAft>
                        <a:buNone/>
                      </a:pPr>
                      <a:r>
                        <a:rPr lang="en" sz="900" dirty="0" err="1"/>
                        <a:t>PSPNet</a:t>
                      </a:r>
                      <a:r>
                        <a:rPr lang="en" sz="900" dirty="0"/>
                        <a:t> Class </a:t>
                      </a:r>
                      <a:r>
                        <a:rPr lang="en" sz="900" dirty="0" err="1"/>
                        <a:t>IoU</a:t>
                      </a:r>
                      <a:endParaRPr sz="900" dirty="0"/>
                    </a:p>
                  </a:txBody>
                  <a:tcPr marL="91425" marR="91425" marT="91425" marB="91425"/>
                </a:tc>
                <a:extLst>
                  <a:ext uri="{0D108BD9-81ED-4DB2-BD59-A6C34878D82A}">
                    <a16:rowId xmlns:a16="http://schemas.microsoft.com/office/drawing/2014/main" val="10000"/>
                  </a:ext>
                </a:extLst>
              </a:tr>
              <a:tr h="271800">
                <a:tc>
                  <a:txBody>
                    <a:bodyPr/>
                    <a:lstStyle/>
                    <a:p>
                      <a:pPr marL="0" lvl="0" indent="0" algn="l" rtl="0">
                        <a:spcBef>
                          <a:spcPts val="0"/>
                        </a:spcBef>
                        <a:spcAft>
                          <a:spcPts val="0"/>
                        </a:spcAft>
                        <a:buNone/>
                      </a:pPr>
                      <a:r>
                        <a:rPr lang="en" sz="900"/>
                        <a:t>0</a:t>
                      </a:r>
                      <a:endParaRPr sz="900"/>
                    </a:p>
                  </a:txBody>
                  <a:tcPr marL="91425" marR="91425" marT="91425" marB="91425"/>
                </a:tc>
                <a:tc>
                  <a:txBody>
                    <a:bodyPr/>
                    <a:lstStyle/>
                    <a:p>
                      <a:pPr marL="0" lvl="0" indent="0" algn="l" rtl="0">
                        <a:spcBef>
                          <a:spcPts val="0"/>
                        </a:spcBef>
                        <a:spcAft>
                          <a:spcPts val="0"/>
                        </a:spcAft>
                        <a:buNone/>
                      </a:pPr>
                      <a:r>
                        <a:rPr lang="en" sz="900"/>
                        <a:t>Building</a:t>
                      </a:r>
                      <a:endParaRPr sz="900"/>
                    </a:p>
                  </a:txBody>
                  <a:tcPr marL="91425" marR="91425" marT="91425" marB="91425"/>
                </a:tc>
                <a:tc>
                  <a:txBody>
                    <a:bodyPr/>
                    <a:lstStyle/>
                    <a:p>
                      <a:pPr marL="0" lvl="0" indent="0" algn="l" rtl="0">
                        <a:spcBef>
                          <a:spcPts val="0"/>
                        </a:spcBef>
                        <a:spcAft>
                          <a:spcPts val="0"/>
                        </a:spcAft>
                        <a:buNone/>
                      </a:pPr>
                      <a:r>
                        <a:rPr lang="en-US" sz="900" dirty="0"/>
                        <a:t>0. 8942</a:t>
                      </a:r>
                      <a:endParaRPr sz="900" dirty="0"/>
                    </a:p>
                  </a:txBody>
                  <a:tcPr marL="91425" marR="91425" marT="91425" marB="91425"/>
                </a:tc>
                <a:extLst>
                  <a:ext uri="{0D108BD9-81ED-4DB2-BD59-A6C34878D82A}">
                    <a16:rowId xmlns:a16="http://schemas.microsoft.com/office/drawing/2014/main" val="10001"/>
                  </a:ext>
                </a:extLst>
              </a:tr>
              <a:tr h="271800">
                <a:tc>
                  <a:txBody>
                    <a:bodyPr/>
                    <a:lstStyle/>
                    <a:p>
                      <a:pPr marL="0" lvl="0" indent="0" algn="l" rtl="0">
                        <a:spcBef>
                          <a:spcPts val="0"/>
                        </a:spcBef>
                        <a:spcAft>
                          <a:spcPts val="0"/>
                        </a:spcAft>
                        <a:buNone/>
                      </a:pPr>
                      <a:r>
                        <a:rPr lang="en" sz="900"/>
                        <a:t>1</a:t>
                      </a:r>
                      <a:endParaRPr sz="900"/>
                    </a:p>
                  </a:txBody>
                  <a:tcPr marL="91425" marR="91425" marT="91425" marB="91425"/>
                </a:tc>
                <a:tc>
                  <a:txBody>
                    <a:bodyPr/>
                    <a:lstStyle/>
                    <a:p>
                      <a:pPr marL="0" lvl="0" indent="0" algn="l" rtl="0">
                        <a:spcBef>
                          <a:spcPts val="0"/>
                        </a:spcBef>
                        <a:spcAft>
                          <a:spcPts val="0"/>
                        </a:spcAft>
                        <a:buNone/>
                      </a:pPr>
                      <a:r>
                        <a:rPr lang="en" sz="900"/>
                        <a:t>Tree</a:t>
                      </a:r>
                      <a:endParaRPr sz="900"/>
                    </a:p>
                  </a:txBody>
                  <a:tcPr marL="91425" marR="91425" marT="91425" marB="91425"/>
                </a:tc>
                <a:tc>
                  <a:txBody>
                    <a:bodyPr/>
                    <a:lstStyle/>
                    <a:p>
                      <a:pPr marL="0" lvl="0" indent="0" algn="l" rtl="0">
                        <a:spcBef>
                          <a:spcPts val="0"/>
                        </a:spcBef>
                        <a:spcAft>
                          <a:spcPts val="0"/>
                        </a:spcAft>
                        <a:buNone/>
                      </a:pPr>
                      <a:r>
                        <a:rPr lang="en-US" sz="900" dirty="0"/>
                        <a:t>0. 8552</a:t>
                      </a:r>
                      <a:endParaRPr sz="900" dirty="0"/>
                    </a:p>
                  </a:txBody>
                  <a:tcPr marL="91425" marR="91425" marT="91425" marB="91425"/>
                </a:tc>
                <a:extLst>
                  <a:ext uri="{0D108BD9-81ED-4DB2-BD59-A6C34878D82A}">
                    <a16:rowId xmlns:a16="http://schemas.microsoft.com/office/drawing/2014/main" val="10002"/>
                  </a:ext>
                </a:extLst>
              </a:tr>
              <a:tr h="271800">
                <a:tc>
                  <a:txBody>
                    <a:bodyPr/>
                    <a:lstStyle/>
                    <a:p>
                      <a:pPr marL="0" lvl="0" indent="0" algn="l" rtl="0">
                        <a:spcBef>
                          <a:spcPts val="0"/>
                        </a:spcBef>
                        <a:spcAft>
                          <a:spcPts val="0"/>
                        </a:spcAft>
                        <a:buNone/>
                      </a:pPr>
                      <a:r>
                        <a:rPr lang="en" sz="900"/>
                        <a:t>2</a:t>
                      </a:r>
                      <a:endParaRPr sz="900"/>
                    </a:p>
                  </a:txBody>
                  <a:tcPr marL="91425" marR="91425" marT="91425" marB="91425"/>
                </a:tc>
                <a:tc>
                  <a:txBody>
                    <a:bodyPr/>
                    <a:lstStyle/>
                    <a:p>
                      <a:pPr marL="0" lvl="0" indent="0" algn="l" rtl="0">
                        <a:spcBef>
                          <a:spcPts val="0"/>
                        </a:spcBef>
                        <a:spcAft>
                          <a:spcPts val="0"/>
                        </a:spcAft>
                        <a:buNone/>
                      </a:pPr>
                      <a:r>
                        <a:rPr lang="en" sz="900"/>
                        <a:t>Sky</a:t>
                      </a:r>
                      <a:endParaRPr sz="900"/>
                    </a:p>
                  </a:txBody>
                  <a:tcPr marL="91425" marR="91425" marT="91425" marB="91425"/>
                </a:tc>
                <a:tc>
                  <a:txBody>
                    <a:bodyPr/>
                    <a:lstStyle/>
                    <a:p>
                      <a:pPr marL="0" lvl="0" indent="0" algn="l" rtl="0">
                        <a:spcBef>
                          <a:spcPts val="0"/>
                        </a:spcBef>
                        <a:spcAft>
                          <a:spcPts val="0"/>
                        </a:spcAft>
                        <a:buNone/>
                      </a:pPr>
                      <a:r>
                        <a:rPr lang="en-US" sz="900" dirty="0"/>
                        <a:t>0. 9148</a:t>
                      </a:r>
                      <a:endParaRPr sz="900" dirty="0"/>
                    </a:p>
                  </a:txBody>
                  <a:tcPr marL="91425" marR="91425" marT="91425" marB="91425"/>
                </a:tc>
                <a:extLst>
                  <a:ext uri="{0D108BD9-81ED-4DB2-BD59-A6C34878D82A}">
                    <a16:rowId xmlns:a16="http://schemas.microsoft.com/office/drawing/2014/main" val="10003"/>
                  </a:ext>
                </a:extLst>
              </a:tr>
              <a:tr h="271800">
                <a:tc>
                  <a:txBody>
                    <a:bodyPr/>
                    <a:lstStyle/>
                    <a:p>
                      <a:pPr marL="0" lvl="0" indent="0" algn="l" rtl="0">
                        <a:spcBef>
                          <a:spcPts val="0"/>
                        </a:spcBef>
                        <a:spcAft>
                          <a:spcPts val="0"/>
                        </a:spcAft>
                        <a:buNone/>
                      </a:pPr>
                      <a:r>
                        <a:rPr lang="en" sz="900"/>
                        <a:t>3</a:t>
                      </a:r>
                      <a:endParaRPr sz="900"/>
                    </a:p>
                  </a:txBody>
                  <a:tcPr marL="91425" marR="91425" marT="91425" marB="91425"/>
                </a:tc>
                <a:tc>
                  <a:txBody>
                    <a:bodyPr/>
                    <a:lstStyle/>
                    <a:p>
                      <a:pPr marL="0" lvl="0" indent="0" algn="l" rtl="0">
                        <a:spcBef>
                          <a:spcPts val="0"/>
                        </a:spcBef>
                        <a:spcAft>
                          <a:spcPts val="0"/>
                        </a:spcAft>
                        <a:buNone/>
                      </a:pPr>
                      <a:r>
                        <a:rPr lang="en" sz="900"/>
                        <a:t>Car</a:t>
                      </a:r>
                      <a:endParaRPr sz="900"/>
                    </a:p>
                  </a:txBody>
                  <a:tcPr marL="91425" marR="91425" marT="91425" marB="91425"/>
                </a:tc>
                <a:tc>
                  <a:txBody>
                    <a:bodyPr/>
                    <a:lstStyle/>
                    <a:p>
                      <a:pPr marL="0" lvl="0" indent="0" algn="l" rtl="0">
                        <a:spcBef>
                          <a:spcPts val="0"/>
                        </a:spcBef>
                        <a:spcAft>
                          <a:spcPts val="0"/>
                        </a:spcAft>
                        <a:buNone/>
                      </a:pPr>
                      <a:r>
                        <a:rPr lang="en-US" sz="900" dirty="0"/>
                        <a:t>0. 8551</a:t>
                      </a:r>
                      <a:endParaRPr sz="900" dirty="0"/>
                    </a:p>
                  </a:txBody>
                  <a:tcPr marL="91425" marR="91425" marT="91425" marB="91425"/>
                </a:tc>
                <a:extLst>
                  <a:ext uri="{0D108BD9-81ED-4DB2-BD59-A6C34878D82A}">
                    <a16:rowId xmlns:a16="http://schemas.microsoft.com/office/drawing/2014/main" val="10004"/>
                  </a:ext>
                </a:extLst>
              </a:tr>
              <a:tr h="271800">
                <a:tc>
                  <a:txBody>
                    <a:bodyPr/>
                    <a:lstStyle/>
                    <a:p>
                      <a:pPr marL="0" lvl="0" indent="0" algn="l" rtl="0">
                        <a:spcBef>
                          <a:spcPts val="0"/>
                        </a:spcBef>
                        <a:spcAft>
                          <a:spcPts val="0"/>
                        </a:spcAft>
                        <a:buNone/>
                      </a:pPr>
                      <a:r>
                        <a:rPr lang="en" sz="900"/>
                        <a:t>4</a:t>
                      </a:r>
                      <a:endParaRPr sz="900"/>
                    </a:p>
                  </a:txBody>
                  <a:tcPr marL="91425" marR="91425" marT="91425" marB="91425"/>
                </a:tc>
                <a:tc>
                  <a:txBody>
                    <a:bodyPr/>
                    <a:lstStyle/>
                    <a:p>
                      <a:pPr marL="0" lvl="0" indent="0" algn="l" rtl="0">
                        <a:spcBef>
                          <a:spcPts val="0"/>
                        </a:spcBef>
                        <a:spcAft>
                          <a:spcPts val="0"/>
                        </a:spcAft>
                        <a:buNone/>
                      </a:pPr>
                      <a:r>
                        <a:rPr lang="en" sz="900"/>
                        <a:t>SignSymbol</a:t>
                      </a:r>
                      <a:endParaRPr sz="900"/>
                    </a:p>
                  </a:txBody>
                  <a:tcPr marL="91425" marR="91425" marT="91425" marB="91425"/>
                </a:tc>
                <a:tc>
                  <a:txBody>
                    <a:bodyPr/>
                    <a:lstStyle/>
                    <a:p>
                      <a:pPr marL="0" lvl="0" indent="0" algn="l" rtl="0">
                        <a:spcBef>
                          <a:spcPts val="0"/>
                        </a:spcBef>
                        <a:spcAft>
                          <a:spcPts val="0"/>
                        </a:spcAft>
                        <a:buNone/>
                      </a:pPr>
                      <a:r>
                        <a:rPr lang="en-US" sz="900" dirty="0"/>
                        <a:t>0. 0000</a:t>
                      </a:r>
                      <a:endParaRPr sz="900" dirty="0"/>
                    </a:p>
                  </a:txBody>
                  <a:tcPr marL="91425" marR="91425" marT="91425" marB="91425"/>
                </a:tc>
                <a:extLst>
                  <a:ext uri="{0D108BD9-81ED-4DB2-BD59-A6C34878D82A}">
                    <a16:rowId xmlns:a16="http://schemas.microsoft.com/office/drawing/2014/main" val="10005"/>
                  </a:ext>
                </a:extLst>
              </a:tr>
              <a:tr h="271800">
                <a:tc>
                  <a:txBody>
                    <a:bodyPr/>
                    <a:lstStyle/>
                    <a:p>
                      <a:pPr marL="0" lvl="0" indent="0" algn="l" rtl="0">
                        <a:spcBef>
                          <a:spcPts val="0"/>
                        </a:spcBef>
                        <a:spcAft>
                          <a:spcPts val="0"/>
                        </a:spcAft>
                        <a:buNone/>
                      </a:pPr>
                      <a:r>
                        <a:rPr lang="en" sz="900"/>
                        <a:t>5</a:t>
                      </a:r>
                      <a:endParaRPr sz="900"/>
                    </a:p>
                  </a:txBody>
                  <a:tcPr marL="91425" marR="91425" marT="91425" marB="91425"/>
                </a:tc>
                <a:tc>
                  <a:txBody>
                    <a:bodyPr/>
                    <a:lstStyle/>
                    <a:p>
                      <a:pPr marL="0" lvl="0" indent="0" algn="l" rtl="0">
                        <a:spcBef>
                          <a:spcPts val="0"/>
                        </a:spcBef>
                        <a:spcAft>
                          <a:spcPts val="0"/>
                        </a:spcAft>
                        <a:buNone/>
                      </a:pPr>
                      <a:r>
                        <a:rPr lang="en" sz="900"/>
                        <a:t>Road</a:t>
                      </a:r>
                      <a:endParaRPr sz="900"/>
                    </a:p>
                  </a:txBody>
                  <a:tcPr marL="91425" marR="91425" marT="91425" marB="91425"/>
                </a:tc>
                <a:tc>
                  <a:txBody>
                    <a:bodyPr/>
                    <a:lstStyle/>
                    <a:p>
                      <a:pPr marL="0" lvl="0" indent="0" algn="l" rtl="0">
                        <a:spcBef>
                          <a:spcPts val="0"/>
                        </a:spcBef>
                        <a:spcAft>
                          <a:spcPts val="0"/>
                        </a:spcAft>
                        <a:buNone/>
                      </a:pPr>
                      <a:r>
                        <a:rPr lang="en-US" sz="900" dirty="0"/>
                        <a:t>0. 9302</a:t>
                      </a:r>
                      <a:endParaRPr sz="900" dirty="0"/>
                    </a:p>
                  </a:txBody>
                  <a:tcPr marL="91425" marR="91425" marT="91425" marB="91425"/>
                </a:tc>
                <a:extLst>
                  <a:ext uri="{0D108BD9-81ED-4DB2-BD59-A6C34878D82A}">
                    <a16:rowId xmlns:a16="http://schemas.microsoft.com/office/drawing/2014/main" val="10006"/>
                  </a:ext>
                </a:extLst>
              </a:tr>
              <a:tr h="271800">
                <a:tc>
                  <a:txBody>
                    <a:bodyPr/>
                    <a:lstStyle/>
                    <a:p>
                      <a:pPr marL="0" lvl="0" indent="0" algn="l" rtl="0">
                        <a:spcBef>
                          <a:spcPts val="0"/>
                        </a:spcBef>
                        <a:spcAft>
                          <a:spcPts val="0"/>
                        </a:spcAft>
                        <a:buNone/>
                      </a:pPr>
                      <a:r>
                        <a:rPr lang="en" sz="900"/>
                        <a:t>6</a:t>
                      </a:r>
                      <a:endParaRPr sz="900"/>
                    </a:p>
                  </a:txBody>
                  <a:tcPr marL="91425" marR="91425" marT="91425" marB="91425"/>
                </a:tc>
                <a:tc>
                  <a:txBody>
                    <a:bodyPr/>
                    <a:lstStyle/>
                    <a:p>
                      <a:pPr marL="0" lvl="0" indent="0" algn="l" rtl="0">
                        <a:spcBef>
                          <a:spcPts val="0"/>
                        </a:spcBef>
                        <a:spcAft>
                          <a:spcPts val="0"/>
                        </a:spcAft>
                        <a:buNone/>
                      </a:pPr>
                      <a:r>
                        <a:rPr lang="en" sz="900"/>
                        <a:t>Pedestrian</a:t>
                      </a:r>
                      <a:endParaRPr sz="900"/>
                    </a:p>
                  </a:txBody>
                  <a:tcPr marL="91425" marR="91425" marT="91425" marB="91425"/>
                </a:tc>
                <a:tc>
                  <a:txBody>
                    <a:bodyPr/>
                    <a:lstStyle/>
                    <a:p>
                      <a:pPr marL="0" lvl="0" indent="0" algn="l" rtl="0">
                        <a:spcBef>
                          <a:spcPts val="0"/>
                        </a:spcBef>
                        <a:spcAft>
                          <a:spcPts val="0"/>
                        </a:spcAft>
                        <a:buNone/>
                      </a:pPr>
                      <a:r>
                        <a:rPr lang="en-US" sz="900" dirty="0"/>
                        <a:t>0. 1859</a:t>
                      </a:r>
                      <a:endParaRPr sz="900" dirty="0"/>
                    </a:p>
                  </a:txBody>
                  <a:tcPr marL="91425" marR="91425" marT="91425" marB="91425"/>
                </a:tc>
                <a:extLst>
                  <a:ext uri="{0D108BD9-81ED-4DB2-BD59-A6C34878D82A}">
                    <a16:rowId xmlns:a16="http://schemas.microsoft.com/office/drawing/2014/main" val="10007"/>
                  </a:ext>
                </a:extLst>
              </a:tr>
              <a:tr h="271800">
                <a:tc>
                  <a:txBody>
                    <a:bodyPr/>
                    <a:lstStyle/>
                    <a:p>
                      <a:pPr marL="0" lvl="0" indent="0" algn="l" rtl="0">
                        <a:spcBef>
                          <a:spcPts val="0"/>
                        </a:spcBef>
                        <a:spcAft>
                          <a:spcPts val="0"/>
                        </a:spcAft>
                        <a:buNone/>
                      </a:pPr>
                      <a:r>
                        <a:rPr lang="en" sz="900"/>
                        <a:t>7</a:t>
                      </a:r>
                      <a:endParaRPr sz="900"/>
                    </a:p>
                  </a:txBody>
                  <a:tcPr marL="91425" marR="91425" marT="91425" marB="91425"/>
                </a:tc>
                <a:tc>
                  <a:txBody>
                    <a:bodyPr/>
                    <a:lstStyle/>
                    <a:p>
                      <a:pPr marL="0" lvl="0" indent="0" algn="l" rtl="0">
                        <a:spcBef>
                          <a:spcPts val="0"/>
                        </a:spcBef>
                        <a:spcAft>
                          <a:spcPts val="0"/>
                        </a:spcAft>
                        <a:buNone/>
                      </a:pPr>
                      <a:r>
                        <a:rPr lang="en" sz="900"/>
                        <a:t>Fence</a:t>
                      </a:r>
                      <a:endParaRPr sz="900"/>
                    </a:p>
                  </a:txBody>
                  <a:tcPr marL="91425" marR="91425" marT="91425" marB="91425"/>
                </a:tc>
                <a:tc>
                  <a:txBody>
                    <a:bodyPr/>
                    <a:lstStyle/>
                    <a:p>
                      <a:pPr marL="0" lvl="0" indent="0" algn="l" rtl="0">
                        <a:spcBef>
                          <a:spcPts val="0"/>
                        </a:spcBef>
                        <a:spcAft>
                          <a:spcPts val="0"/>
                        </a:spcAft>
                        <a:buNone/>
                      </a:pPr>
                      <a:r>
                        <a:rPr lang="en-US" sz="900" dirty="0"/>
                        <a:t>0. 5235</a:t>
                      </a:r>
                      <a:endParaRPr sz="900" dirty="0"/>
                    </a:p>
                  </a:txBody>
                  <a:tcPr marL="91425" marR="91425" marT="91425" marB="91425"/>
                </a:tc>
                <a:extLst>
                  <a:ext uri="{0D108BD9-81ED-4DB2-BD59-A6C34878D82A}">
                    <a16:rowId xmlns:a16="http://schemas.microsoft.com/office/drawing/2014/main" val="10008"/>
                  </a:ext>
                </a:extLst>
              </a:tr>
              <a:tr h="271800">
                <a:tc>
                  <a:txBody>
                    <a:bodyPr/>
                    <a:lstStyle/>
                    <a:p>
                      <a:pPr marL="0" lvl="0" indent="0" algn="l" rtl="0">
                        <a:spcBef>
                          <a:spcPts val="0"/>
                        </a:spcBef>
                        <a:spcAft>
                          <a:spcPts val="0"/>
                        </a:spcAft>
                        <a:buNone/>
                      </a:pPr>
                      <a:r>
                        <a:rPr lang="en" sz="900"/>
                        <a:t>8</a:t>
                      </a:r>
                      <a:endParaRPr sz="900"/>
                    </a:p>
                  </a:txBody>
                  <a:tcPr marL="91425" marR="91425" marT="91425" marB="91425"/>
                </a:tc>
                <a:tc>
                  <a:txBody>
                    <a:bodyPr/>
                    <a:lstStyle/>
                    <a:p>
                      <a:pPr marL="0" lvl="0" indent="0" algn="l" rtl="0">
                        <a:spcBef>
                          <a:spcPts val="0"/>
                        </a:spcBef>
                        <a:spcAft>
                          <a:spcPts val="0"/>
                        </a:spcAft>
                        <a:buNone/>
                      </a:pPr>
                      <a:r>
                        <a:rPr lang="en" sz="900"/>
                        <a:t>Column_Pole</a:t>
                      </a:r>
                      <a:endParaRPr sz="900"/>
                    </a:p>
                  </a:txBody>
                  <a:tcPr marL="91425" marR="91425" marT="91425" marB="91425"/>
                </a:tc>
                <a:tc>
                  <a:txBody>
                    <a:bodyPr/>
                    <a:lstStyle/>
                    <a:p>
                      <a:pPr marL="0" lvl="0" indent="0" algn="l" rtl="0">
                        <a:spcBef>
                          <a:spcPts val="0"/>
                        </a:spcBef>
                        <a:spcAft>
                          <a:spcPts val="0"/>
                        </a:spcAft>
                        <a:buNone/>
                      </a:pPr>
                      <a:r>
                        <a:rPr lang="en-US" sz="900" dirty="0"/>
                        <a:t>0. 0010</a:t>
                      </a:r>
                      <a:endParaRPr sz="900" dirty="0"/>
                    </a:p>
                  </a:txBody>
                  <a:tcPr marL="91425" marR="91425" marT="91425" marB="91425"/>
                </a:tc>
                <a:extLst>
                  <a:ext uri="{0D108BD9-81ED-4DB2-BD59-A6C34878D82A}">
                    <a16:rowId xmlns:a16="http://schemas.microsoft.com/office/drawing/2014/main" val="10009"/>
                  </a:ext>
                </a:extLst>
              </a:tr>
              <a:tr h="271800">
                <a:tc>
                  <a:txBody>
                    <a:bodyPr/>
                    <a:lstStyle/>
                    <a:p>
                      <a:pPr marL="0" lvl="0" indent="0" algn="l" rtl="0">
                        <a:spcBef>
                          <a:spcPts val="0"/>
                        </a:spcBef>
                        <a:spcAft>
                          <a:spcPts val="0"/>
                        </a:spcAft>
                        <a:buNone/>
                      </a:pPr>
                      <a:r>
                        <a:rPr lang="en" sz="900"/>
                        <a:t>9</a:t>
                      </a:r>
                      <a:endParaRPr sz="900"/>
                    </a:p>
                  </a:txBody>
                  <a:tcPr marL="91425" marR="91425" marT="91425" marB="91425"/>
                </a:tc>
                <a:tc>
                  <a:txBody>
                    <a:bodyPr/>
                    <a:lstStyle/>
                    <a:p>
                      <a:pPr marL="0" lvl="0" indent="0" algn="l" rtl="0">
                        <a:spcBef>
                          <a:spcPts val="0"/>
                        </a:spcBef>
                        <a:spcAft>
                          <a:spcPts val="0"/>
                        </a:spcAft>
                        <a:buNone/>
                      </a:pPr>
                      <a:r>
                        <a:rPr lang="en" sz="900"/>
                        <a:t>Sidewalk</a:t>
                      </a:r>
                      <a:endParaRPr sz="900"/>
                    </a:p>
                  </a:txBody>
                  <a:tcPr marL="91425" marR="91425" marT="91425" marB="91425"/>
                </a:tc>
                <a:tc>
                  <a:txBody>
                    <a:bodyPr/>
                    <a:lstStyle/>
                    <a:p>
                      <a:pPr marL="0" lvl="0" indent="0" algn="l" rtl="0">
                        <a:spcBef>
                          <a:spcPts val="0"/>
                        </a:spcBef>
                        <a:spcAft>
                          <a:spcPts val="0"/>
                        </a:spcAft>
                        <a:buNone/>
                      </a:pPr>
                      <a:r>
                        <a:rPr lang="en-US" sz="900" dirty="0"/>
                        <a:t>0. 8205</a:t>
                      </a:r>
                      <a:endParaRPr sz="900" dirty="0"/>
                    </a:p>
                  </a:txBody>
                  <a:tcPr marL="91425" marR="91425" marT="91425" marB="91425"/>
                </a:tc>
                <a:extLst>
                  <a:ext uri="{0D108BD9-81ED-4DB2-BD59-A6C34878D82A}">
                    <a16:rowId xmlns:a16="http://schemas.microsoft.com/office/drawing/2014/main" val="10010"/>
                  </a:ext>
                </a:extLst>
              </a:tr>
              <a:tr h="271800">
                <a:tc>
                  <a:txBody>
                    <a:bodyPr/>
                    <a:lstStyle/>
                    <a:p>
                      <a:pPr marL="0" lvl="0" indent="0" algn="l" rtl="0">
                        <a:spcBef>
                          <a:spcPts val="0"/>
                        </a:spcBef>
                        <a:spcAft>
                          <a:spcPts val="0"/>
                        </a:spcAft>
                        <a:buNone/>
                      </a:pPr>
                      <a:r>
                        <a:rPr lang="en" sz="900"/>
                        <a:t>10</a:t>
                      </a:r>
                      <a:endParaRPr sz="900"/>
                    </a:p>
                  </a:txBody>
                  <a:tcPr marL="91425" marR="91425" marT="91425" marB="91425"/>
                </a:tc>
                <a:tc>
                  <a:txBody>
                    <a:bodyPr/>
                    <a:lstStyle/>
                    <a:p>
                      <a:pPr marL="0" lvl="0" indent="0" algn="l" rtl="0">
                        <a:spcBef>
                          <a:spcPts val="0"/>
                        </a:spcBef>
                        <a:spcAft>
                          <a:spcPts val="0"/>
                        </a:spcAft>
                        <a:buNone/>
                      </a:pPr>
                      <a:r>
                        <a:rPr lang="en" sz="900"/>
                        <a:t>Bicyclist</a:t>
                      </a:r>
                      <a:endParaRPr sz="900"/>
                    </a:p>
                  </a:txBody>
                  <a:tcPr marL="91425" marR="91425" marT="91425" marB="91425"/>
                </a:tc>
                <a:tc>
                  <a:txBody>
                    <a:bodyPr/>
                    <a:lstStyle/>
                    <a:p>
                      <a:pPr marL="0" lvl="0" indent="0" algn="l" rtl="0">
                        <a:spcBef>
                          <a:spcPts val="0"/>
                        </a:spcBef>
                        <a:spcAft>
                          <a:spcPts val="0"/>
                        </a:spcAft>
                        <a:buNone/>
                      </a:pPr>
                      <a:r>
                        <a:rPr lang="en-US" sz="900" dirty="0"/>
                        <a:t>0. 5842</a:t>
                      </a:r>
                      <a:endParaRPr sz="900" dirty="0"/>
                    </a:p>
                  </a:txBody>
                  <a:tcPr marL="91425" marR="91425" marT="91425" marB="91425"/>
                </a:tc>
                <a:extLst>
                  <a:ext uri="{0D108BD9-81ED-4DB2-BD59-A6C34878D82A}">
                    <a16:rowId xmlns:a16="http://schemas.microsoft.com/office/drawing/2014/main" val="10011"/>
                  </a:ext>
                </a:extLst>
              </a:tr>
            </a:tbl>
          </a:graphicData>
        </a:graphic>
      </p:graphicFrame>
      <p:sp>
        <p:nvSpPr>
          <p:cNvPr id="3" name="TextBox 2">
            <a:extLst>
              <a:ext uri="{FF2B5EF4-FFF2-40B4-BE49-F238E27FC236}">
                <a16:creationId xmlns:a16="http://schemas.microsoft.com/office/drawing/2014/main" id="{BAB00CF3-3C61-14F5-769F-6BC9FC87B460}"/>
              </a:ext>
            </a:extLst>
          </p:cNvPr>
          <p:cNvSpPr txBox="1"/>
          <p:nvPr/>
        </p:nvSpPr>
        <p:spPr>
          <a:xfrm>
            <a:off x="6659912" y="1082352"/>
            <a:ext cx="2409444" cy="954107"/>
          </a:xfrm>
          <a:prstGeom prst="rect">
            <a:avLst/>
          </a:prstGeom>
          <a:noFill/>
        </p:spPr>
        <p:txBody>
          <a:bodyPr wrap="square" rtlCol="0">
            <a:spAutoFit/>
          </a:bodyPr>
          <a:lstStyle/>
          <a:p>
            <a:endParaRPr lang="en-US" b="1" dirty="0"/>
          </a:p>
          <a:p>
            <a:endParaRPr lang="en-US" b="1" dirty="0"/>
          </a:p>
          <a:p>
            <a:endParaRPr lang="en-US" b="1" dirty="0"/>
          </a:p>
          <a:p>
            <a:r>
              <a:rPr lang="en-US" b="1" dirty="0"/>
              <a:t>Validation </a:t>
            </a:r>
            <a:r>
              <a:rPr lang="en-US" b="1" dirty="0" err="1"/>
              <a:t>mIoU</a:t>
            </a:r>
            <a:r>
              <a:rPr lang="en-US" b="1" dirty="0"/>
              <a:t>: 0.6124</a:t>
            </a:r>
            <a:endParaRPr lang="en-US" dirty="0"/>
          </a:p>
        </p:txBody>
      </p:sp>
      <p:sp>
        <p:nvSpPr>
          <p:cNvPr id="4" name="TextBox 3">
            <a:extLst>
              <a:ext uri="{FF2B5EF4-FFF2-40B4-BE49-F238E27FC236}">
                <a16:creationId xmlns:a16="http://schemas.microsoft.com/office/drawing/2014/main" id="{8E2E4DDA-E789-06F1-9077-A7A377415872}"/>
              </a:ext>
            </a:extLst>
          </p:cNvPr>
          <p:cNvSpPr txBox="1"/>
          <p:nvPr/>
        </p:nvSpPr>
        <p:spPr>
          <a:xfrm>
            <a:off x="528937" y="4773183"/>
            <a:ext cx="2587487" cy="307777"/>
          </a:xfrm>
          <a:prstGeom prst="rect">
            <a:avLst/>
          </a:prstGeom>
          <a:noFill/>
        </p:spPr>
        <p:txBody>
          <a:bodyPr wrap="square" rtlCol="0">
            <a:spAutoFit/>
          </a:bodyPr>
          <a:lstStyle/>
          <a:p>
            <a:r>
              <a:rPr lang="en-US" dirty="0"/>
              <a:t>Number of Epochs: 55</a:t>
            </a:r>
          </a:p>
        </p:txBody>
      </p:sp>
    </p:spTree>
    <p:extLst>
      <p:ext uri="{BB962C8B-B14F-4D97-AF65-F5344CB8AC3E}">
        <p14:creationId xmlns:p14="http://schemas.microsoft.com/office/powerpoint/2010/main" val="1145944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10" name="Google Shape;72;p4">
            <a:extLst>
              <a:ext uri="{FF2B5EF4-FFF2-40B4-BE49-F238E27FC236}">
                <a16:creationId xmlns:a16="http://schemas.microsoft.com/office/drawing/2014/main" id="{22C45100-9908-4989-D56E-9B2D54CD61CA}"/>
              </a:ext>
            </a:extLst>
          </p:cNvPr>
          <p:cNvSpPr txBox="1">
            <a:spLocks noGrp="1"/>
          </p:cNvSpPr>
          <p:nvPr>
            <p:ph type="body" idx="1"/>
          </p:nvPr>
        </p:nvSpPr>
        <p:spPr>
          <a:xfrm>
            <a:off x="311700" y="438800"/>
            <a:ext cx="8353500" cy="45693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EC2: </a:t>
            </a:r>
            <a:r>
              <a:rPr lang="en-US" b="1" dirty="0" err="1"/>
              <a:t>PSPNet</a:t>
            </a:r>
            <a:endParaRPr b="1" dirty="0"/>
          </a:p>
          <a:p>
            <a:pPr marL="0" lvl="0" indent="0" algn="l" rtl="0">
              <a:lnSpc>
                <a:spcPct val="115000"/>
              </a:lnSpc>
              <a:spcBef>
                <a:spcPts val="1600"/>
              </a:spcBef>
              <a:spcAft>
                <a:spcPts val="0"/>
              </a:spcAft>
              <a:buSzPts val="1400"/>
              <a:buNone/>
            </a:pPr>
            <a:endParaRPr b="1"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0"/>
              </a:spcAft>
              <a:buSzPts val="1400"/>
              <a:buNone/>
            </a:pPr>
            <a:endParaRPr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a:p>
            <a:pPr marL="0" lvl="0" indent="0" algn="l" rtl="0">
              <a:lnSpc>
                <a:spcPct val="114999"/>
              </a:lnSpc>
              <a:spcBef>
                <a:spcPts val="1600"/>
              </a:spcBef>
              <a:spcAft>
                <a:spcPts val="0"/>
              </a:spcAft>
              <a:buSzPts val="1400"/>
              <a:buNone/>
            </a:pPr>
            <a:endParaRPr lang="en" dirty="0"/>
          </a:p>
        </p:txBody>
      </p:sp>
      <p:sp>
        <p:nvSpPr>
          <p:cNvPr id="11" name="TextBox 10">
            <a:extLst>
              <a:ext uri="{FF2B5EF4-FFF2-40B4-BE49-F238E27FC236}">
                <a16:creationId xmlns:a16="http://schemas.microsoft.com/office/drawing/2014/main" id="{5C639927-3F47-5FDA-80B9-2A31C027F03B}"/>
              </a:ext>
            </a:extLst>
          </p:cNvPr>
          <p:cNvSpPr txBox="1"/>
          <p:nvPr/>
        </p:nvSpPr>
        <p:spPr>
          <a:xfrm>
            <a:off x="391886" y="1007706"/>
            <a:ext cx="8472196" cy="566758"/>
          </a:xfrm>
          <a:prstGeom prst="rect">
            <a:avLst/>
          </a:prstGeom>
          <a:noFill/>
        </p:spPr>
        <p:txBody>
          <a:bodyPr wrap="square" rtlCol="0">
            <a:spAutoFit/>
          </a:bodyPr>
          <a:lstStyle/>
          <a:p>
            <a:pPr>
              <a:lnSpc>
                <a:spcPct val="115000"/>
              </a:lnSpc>
              <a:buClr>
                <a:schemeClr val="dk2"/>
              </a:buClr>
              <a:buSzPts val="1400"/>
            </a:pPr>
            <a:r>
              <a:rPr lang="en-US" dirty="0">
                <a:solidFill>
                  <a:schemeClr val="dk2"/>
                </a:solidFill>
              </a:rPr>
              <a:t>Paste a figure of the generated semantic segmentation from </a:t>
            </a:r>
            <a:r>
              <a:rPr lang="en-US" dirty="0" err="1">
                <a:solidFill>
                  <a:schemeClr val="dk2"/>
                </a:solidFill>
              </a:rPr>
              <a:t>Colab</a:t>
            </a:r>
            <a:r>
              <a:rPr lang="en-US" dirty="0">
                <a:solidFill>
                  <a:schemeClr val="dk2"/>
                </a:solidFill>
              </a:rPr>
              <a:t>. It should be a 2x3 grid, with ground truth on the top row, and your predictions on the bottom row.</a:t>
            </a:r>
          </a:p>
        </p:txBody>
      </p:sp>
      <p:pic>
        <p:nvPicPr>
          <p:cNvPr id="2050" name="Picture 2">
            <a:extLst>
              <a:ext uri="{FF2B5EF4-FFF2-40B4-BE49-F238E27FC236}">
                <a16:creationId xmlns:a16="http://schemas.microsoft.com/office/drawing/2014/main" id="{2DA23D39-F11E-5349-91EA-14C2B6AE9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5947" y="1574464"/>
            <a:ext cx="6724073" cy="3462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960002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995</Words>
  <Application>Microsoft Office PowerPoint</Application>
  <PresentationFormat>On-screen Show (16:9)</PresentationFormat>
  <Paragraphs>203</Paragraphs>
  <Slides>14</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Cambria Math</vt:lpstr>
      <vt:lpstr>Simple Light</vt:lpstr>
      <vt:lpstr>CS 4476 PS4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Theory: Neural Nets</vt:lpstr>
      <vt:lpstr>Theory: Neural Nets (cont.)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4476 PS5</dc:title>
  <cp:lastModifiedBy>Devin Fromond</cp:lastModifiedBy>
  <cp:revision>18</cp:revision>
  <dcterms:modified xsi:type="dcterms:W3CDTF">2025-10-30T21:48:29Z</dcterms:modified>
</cp:coreProperties>
</file>